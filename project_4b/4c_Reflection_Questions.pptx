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9" r:id="rId4"/>
    <p:sldId id="257" r:id="rId5"/>
    <p:sldId id="266" r:id="rId6"/>
    <p:sldId id="267"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98"/>
    <p:restoredTop sz="94721"/>
  </p:normalViewPr>
  <p:slideViewPr>
    <p:cSldViewPr snapToGrid="0">
      <p:cViewPr varScale="1">
        <p:scale>
          <a:sx n="112" d="100"/>
          <a:sy n="112" d="100"/>
        </p:scale>
        <p:origin x="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43D2-BD69-6DB1-E756-F47E010F0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E1600A-0BDC-6FB7-5F32-5D6FAB04B6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F26C2-B3C9-2D53-9B25-4618C14365AA}"/>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5" name="Footer Placeholder 4">
            <a:extLst>
              <a:ext uri="{FF2B5EF4-FFF2-40B4-BE49-F238E27FC236}">
                <a16:creationId xmlns:a16="http://schemas.microsoft.com/office/drawing/2014/main" id="{D123ED23-A1BC-88D1-F161-4BB3D04D2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A91FD-075E-5D5B-5476-5F75C74439A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370733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DA7B-D719-F2FB-96DC-7FF848D4E8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39D6D-6535-8C4A-C2E9-06A32AB047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9046B6-E289-27D2-6A3C-3EA9BA9DE8C2}"/>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5" name="Footer Placeholder 4">
            <a:extLst>
              <a:ext uri="{FF2B5EF4-FFF2-40B4-BE49-F238E27FC236}">
                <a16:creationId xmlns:a16="http://schemas.microsoft.com/office/drawing/2014/main" id="{4A232D74-AC33-F5E9-904F-7CA8D10F8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A4ED7-0B04-EC71-AD6D-2271F108D06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43448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F875-8983-706B-D540-97E08B668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8C12CD-0226-FE37-9495-A995BFDAA5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EC20D6-CB5C-C48B-278C-DE12F952E28E}"/>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5" name="Footer Placeholder 4">
            <a:extLst>
              <a:ext uri="{FF2B5EF4-FFF2-40B4-BE49-F238E27FC236}">
                <a16:creationId xmlns:a16="http://schemas.microsoft.com/office/drawing/2014/main" id="{0E549C80-C926-AC01-65F3-85D8A3E41B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45B6A-8362-0DED-5D51-59C43B9A821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62518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35B2-08E3-1876-4D66-E18F2E2BD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FFC15-743A-3F91-6070-63223962F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9576E6-9BFE-9FC0-11AC-B895376B0B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4C183C-D5B9-4113-F059-21C36B38C033}"/>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6" name="Footer Placeholder 5">
            <a:extLst>
              <a:ext uri="{FF2B5EF4-FFF2-40B4-BE49-F238E27FC236}">
                <a16:creationId xmlns:a16="http://schemas.microsoft.com/office/drawing/2014/main" id="{46C45E65-3DBD-75EC-6F47-D80A5EE2FA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FD647-2279-85FF-BB7C-772B6A33163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739150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3D1E-1F27-984B-4588-557DE6C40A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D8BE35-2755-FD1F-556D-3172D8120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BA2A3-41C9-C313-A557-BCC2059ADB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669F-B0E8-3E72-E584-4D157F6BD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60103B-D99C-4CC6-74FD-0D0BABEC9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D10524-8E7F-9B2D-9EE0-BD1185C1EAD8}"/>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8" name="Footer Placeholder 7">
            <a:extLst>
              <a:ext uri="{FF2B5EF4-FFF2-40B4-BE49-F238E27FC236}">
                <a16:creationId xmlns:a16="http://schemas.microsoft.com/office/drawing/2014/main" id="{CC7F4854-BDA9-E45B-2BAA-438A7C3EC3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AA5BF-1F8A-3B2B-6198-1B4ACA469AB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75583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E7B4-8849-15FD-03A1-F1F7740E1C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251D0F-7149-BDB4-1816-403BBCF81BD3}"/>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4" name="Footer Placeholder 3">
            <a:extLst>
              <a:ext uri="{FF2B5EF4-FFF2-40B4-BE49-F238E27FC236}">
                <a16:creationId xmlns:a16="http://schemas.microsoft.com/office/drawing/2014/main" id="{CF1910DC-C069-0A1D-5C5B-7DCF0E4322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C3359-F225-718F-A4B5-E7D2A7465016}"/>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46318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3E4D3-B04C-9E7A-D9C7-88326C188292}"/>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3" name="Footer Placeholder 2">
            <a:extLst>
              <a:ext uri="{FF2B5EF4-FFF2-40B4-BE49-F238E27FC236}">
                <a16:creationId xmlns:a16="http://schemas.microsoft.com/office/drawing/2014/main" id="{1981FD00-A0E4-8AB5-BBD9-927EDE7029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383A7F-5BE6-92DE-CABB-7408F024C163}"/>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474630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C42B-938D-D2C3-6591-D7A10405E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6085E5-F05F-44E2-1A61-CC36ECCE41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0B90A5-78F8-8164-CA69-5D58564D5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29931-C80D-DE10-C78A-2C66524DDAA9}"/>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6" name="Footer Placeholder 5">
            <a:extLst>
              <a:ext uri="{FF2B5EF4-FFF2-40B4-BE49-F238E27FC236}">
                <a16:creationId xmlns:a16="http://schemas.microsoft.com/office/drawing/2014/main" id="{35C6252F-A942-2B27-3DE8-04812156A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B124A-9803-71FC-6A0F-C5B8217EB048}"/>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07921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B20F-0845-3626-6133-FE7E61497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40D54-B0CB-FB0E-2B3B-B8F612E415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5CD950-7CF9-B689-82C9-800E8336FD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73AAF2-A929-0B8D-8C86-72BB9CE24D31}"/>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6" name="Footer Placeholder 5">
            <a:extLst>
              <a:ext uri="{FF2B5EF4-FFF2-40B4-BE49-F238E27FC236}">
                <a16:creationId xmlns:a16="http://schemas.microsoft.com/office/drawing/2014/main" id="{A4150CEE-4973-3ED0-1B4E-7A202A743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C7F79-A490-5568-06DE-2956135B1CE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725434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BE3D-3EC0-83A1-1B26-E00B8736AD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AD8E2B-B852-F5E5-4087-4B88CD13B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30E7F-61B8-71C7-8B15-1BA2F762EC9F}"/>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5" name="Footer Placeholder 4">
            <a:extLst>
              <a:ext uri="{FF2B5EF4-FFF2-40B4-BE49-F238E27FC236}">
                <a16:creationId xmlns:a16="http://schemas.microsoft.com/office/drawing/2014/main" id="{525398C3-D0CF-3745-1A0F-9110A0949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E2062-5F55-FB65-F525-3AA410C0AAB5}"/>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698284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2EC2B-789C-2ACB-CE0A-94F5E10179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E7C7EB-948C-72DF-F2C1-8975D76D94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CDA9B-A537-D707-D430-8508174AD3A5}"/>
              </a:ext>
            </a:extLst>
          </p:cNvPr>
          <p:cNvSpPr>
            <a:spLocks noGrp="1"/>
          </p:cNvSpPr>
          <p:nvPr>
            <p:ph type="dt" sz="half" idx="10"/>
          </p:nvPr>
        </p:nvSpPr>
        <p:spPr/>
        <p:txBody>
          <a:bodyPr/>
          <a:lstStyle/>
          <a:p>
            <a:fld id="{E5406C7D-96B9-4210-A821-CA0D29017C6B}" type="datetimeFigureOut">
              <a:rPr lang="en-US" smtClean="0"/>
              <a:t>4/14/26</a:t>
            </a:fld>
            <a:endParaRPr lang="en-US"/>
          </a:p>
        </p:txBody>
      </p:sp>
      <p:sp>
        <p:nvSpPr>
          <p:cNvPr id="5" name="Footer Placeholder 4">
            <a:extLst>
              <a:ext uri="{FF2B5EF4-FFF2-40B4-BE49-F238E27FC236}">
                <a16:creationId xmlns:a16="http://schemas.microsoft.com/office/drawing/2014/main" id="{49B8A1A7-0E2C-53ED-53EB-B0433E503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353D3-6C1D-4403-B0CF-7B9191ABCD6B}"/>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88751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C54262-A1BE-2C4F-3383-A4385976C0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E8B805-B01F-3893-53FA-1F8D902066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C8857-1E6D-9FDB-6770-A00FFF6C53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406C7D-96B9-4210-A821-CA0D29017C6B}" type="datetimeFigureOut">
              <a:rPr lang="en-US" smtClean="0"/>
              <a:t>4/14/26</a:t>
            </a:fld>
            <a:endParaRPr lang="en-US"/>
          </a:p>
        </p:txBody>
      </p:sp>
      <p:sp>
        <p:nvSpPr>
          <p:cNvPr id="5" name="Footer Placeholder 4">
            <a:extLst>
              <a:ext uri="{FF2B5EF4-FFF2-40B4-BE49-F238E27FC236}">
                <a16:creationId xmlns:a16="http://schemas.microsoft.com/office/drawing/2014/main" id="{13DF8A06-94A5-4778-0191-6427C0F98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B91BD9-A7F6-1E1D-A1F0-AABE91F67A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E99F25-048C-49D1-A62F-02E0783F3D5A}" type="slidenum">
              <a:rPr lang="en-US" smtClean="0"/>
              <a:t>‹#›</a:t>
            </a:fld>
            <a:endParaRPr lang="en-US"/>
          </a:p>
        </p:txBody>
      </p:sp>
    </p:spTree>
    <p:extLst>
      <p:ext uri="{BB962C8B-B14F-4D97-AF65-F5344CB8AC3E}">
        <p14:creationId xmlns:p14="http://schemas.microsoft.com/office/powerpoint/2010/main" val="284360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E996-FCBC-E219-9017-65F962F1E87B}"/>
              </a:ext>
            </a:extLst>
          </p:cNvPr>
          <p:cNvSpPr>
            <a:spLocks noGrp="1"/>
          </p:cNvSpPr>
          <p:nvPr>
            <p:ph type="ctrTitle"/>
          </p:nvPr>
        </p:nvSpPr>
        <p:spPr>
          <a:xfrm>
            <a:off x="1092201" y="1769533"/>
            <a:ext cx="9872132" cy="1105430"/>
          </a:xfrm>
        </p:spPr>
        <p:txBody>
          <a:bodyPr>
            <a:normAutofit/>
          </a:bodyPr>
          <a:lstStyle/>
          <a:p>
            <a:r>
              <a:rPr lang="en-US" dirty="0"/>
              <a:t>CS 4803/8803 P4c Reflection</a:t>
            </a:r>
          </a:p>
        </p:txBody>
      </p:sp>
      <p:sp>
        <p:nvSpPr>
          <p:cNvPr id="3" name="Subtitle 2">
            <a:extLst>
              <a:ext uri="{FF2B5EF4-FFF2-40B4-BE49-F238E27FC236}">
                <a16:creationId xmlns:a16="http://schemas.microsoft.com/office/drawing/2014/main" id="{498E9311-0349-FD8A-5F59-792F3D35D5E2}"/>
              </a:ext>
            </a:extLst>
          </p:cNvPr>
          <p:cNvSpPr>
            <a:spLocks noGrp="1"/>
          </p:cNvSpPr>
          <p:nvPr>
            <p:ph type="subTitle" idx="1"/>
          </p:nvPr>
        </p:nvSpPr>
        <p:spPr>
          <a:xfrm>
            <a:off x="1524000" y="2958571"/>
            <a:ext cx="9144000" cy="1655762"/>
          </a:xfrm>
        </p:spPr>
        <p:txBody>
          <a:bodyPr>
            <a:normAutofit/>
          </a:bodyPr>
          <a:lstStyle/>
          <a:p>
            <a:r>
              <a:rPr lang="en-US" sz="2800" dirty="0"/>
              <a:t>[Name]</a:t>
            </a:r>
          </a:p>
          <a:p>
            <a:r>
              <a:rPr lang="en-US" sz="2800" dirty="0"/>
              <a:t>[GT Email]</a:t>
            </a:r>
          </a:p>
          <a:p>
            <a:r>
              <a:rPr lang="en-US" sz="2800" dirty="0"/>
              <a:t>[GTID]</a:t>
            </a:r>
          </a:p>
        </p:txBody>
      </p:sp>
      <p:sp>
        <p:nvSpPr>
          <p:cNvPr id="4" name="Subtitle 2">
            <a:extLst>
              <a:ext uri="{FF2B5EF4-FFF2-40B4-BE49-F238E27FC236}">
                <a16:creationId xmlns:a16="http://schemas.microsoft.com/office/drawing/2014/main" id="{E6F89707-D23C-D080-96D2-5BCA4BD51F89}"/>
              </a:ext>
            </a:extLst>
          </p:cNvPr>
          <p:cNvSpPr txBox="1">
            <a:spLocks/>
          </p:cNvSpPr>
          <p:nvPr/>
        </p:nvSpPr>
        <p:spPr>
          <a:xfrm>
            <a:off x="783167" y="4973640"/>
            <a:ext cx="10490200" cy="110543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Provide your answer on the appropriate slide. Add new slides if necessary but ensure you assign them to the appropriate question on Gradescope.</a:t>
            </a:r>
            <a:endParaRPr lang="en-US" sz="2000" dirty="0"/>
          </a:p>
        </p:txBody>
      </p:sp>
    </p:spTree>
    <p:extLst>
      <p:ext uri="{BB962C8B-B14F-4D97-AF65-F5344CB8AC3E}">
        <p14:creationId xmlns:p14="http://schemas.microsoft.com/office/powerpoint/2010/main" val="365184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5D99E-0EB8-3760-E3A8-5B4A9BF2A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60153-DD21-0E8D-D9DD-7F88474A52F6}"/>
              </a:ext>
            </a:extLst>
          </p:cNvPr>
          <p:cNvSpPr>
            <a:spLocks noGrp="1"/>
          </p:cNvSpPr>
          <p:nvPr>
            <p:ph type="title"/>
          </p:nvPr>
        </p:nvSpPr>
        <p:spPr>
          <a:xfrm>
            <a:off x="838200" y="48683"/>
            <a:ext cx="10515600" cy="1776942"/>
          </a:xfrm>
        </p:spPr>
        <p:txBody>
          <a:bodyPr>
            <a:normAutofit/>
          </a:bodyPr>
          <a:lstStyle/>
          <a:p>
            <a:r>
              <a:rPr lang="en-US" sz="2800" dirty="0"/>
              <a:t>Explain the role of IMU </a:t>
            </a:r>
            <a:r>
              <a:rPr lang="en-US" sz="2800" dirty="0" err="1"/>
              <a:t>preintegration</a:t>
            </a:r>
            <a:r>
              <a:rPr lang="en-US" sz="2800" dirty="0"/>
              <a:t> in this pipeline. What information is being accumulated between LiDAR keyframes, and why is it useful instead of adding one factor per raw IMU sample? [5 pts]</a:t>
            </a:r>
          </a:p>
        </p:txBody>
      </p:sp>
      <p:sp>
        <p:nvSpPr>
          <p:cNvPr id="4" name="Content Placeholder 2">
            <a:extLst>
              <a:ext uri="{FF2B5EF4-FFF2-40B4-BE49-F238E27FC236}">
                <a16:creationId xmlns:a16="http://schemas.microsoft.com/office/drawing/2014/main" id="{6ED0A962-2D78-07E9-DB9E-7071997E3491}"/>
              </a:ext>
            </a:extLst>
          </p:cNvPr>
          <p:cNvSpPr>
            <a:spLocks noGrp="1"/>
          </p:cNvSpPr>
          <p:nvPr>
            <p:ph idx="1"/>
          </p:nvPr>
        </p:nvSpPr>
        <p:spPr>
          <a:xfrm>
            <a:off x="838200" y="1825625"/>
            <a:ext cx="10803467" cy="4351338"/>
          </a:xfrm>
        </p:spPr>
        <p:txBody>
          <a:bodyPr>
            <a:normAutofit/>
          </a:bodyPr>
          <a:lstStyle/>
          <a:p>
            <a:pPr marL="0" indent="0">
              <a:buNone/>
            </a:pPr>
            <a:r>
              <a:rPr lang="en-US" sz="2400" i="1" dirty="0"/>
              <a:t>Type answer here</a:t>
            </a:r>
          </a:p>
        </p:txBody>
      </p:sp>
    </p:spTree>
    <p:extLst>
      <p:ext uri="{BB962C8B-B14F-4D97-AF65-F5344CB8AC3E}">
        <p14:creationId xmlns:p14="http://schemas.microsoft.com/office/powerpoint/2010/main" val="448509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024EE-B86C-C5E3-39F2-2D3ABC5D7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5C08D-DAC1-943C-80F6-42B09CA7DE25}"/>
              </a:ext>
            </a:extLst>
          </p:cNvPr>
          <p:cNvSpPr>
            <a:spLocks noGrp="1"/>
          </p:cNvSpPr>
          <p:nvPr>
            <p:ph type="title"/>
          </p:nvPr>
        </p:nvSpPr>
        <p:spPr>
          <a:xfrm>
            <a:off x="838200" y="48683"/>
            <a:ext cx="10515600" cy="1776942"/>
          </a:xfrm>
        </p:spPr>
        <p:txBody>
          <a:bodyPr>
            <a:normAutofit/>
          </a:bodyPr>
          <a:lstStyle/>
          <a:p>
            <a:r>
              <a:rPr lang="en-US" sz="2800" dirty="0"/>
              <a:t>Explain the purpose of the bias-evolution factor. Why is it not enough to add only an IMU factor between consecutive states? What modeling assumption is the bias </a:t>
            </a:r>
            <a:r>
              <a:rPr lang="en-US" sz="2800"/>
              <a:t>factor capturing? </a:t>
            </a:r>
            <a:r>
              <a:rPr lang="en-US" sz="2800" dirty="0"/>
              <a:t>[5 pts]</a:t>
            </a:r>
          </a:p>
        </p:txBody>
      </p:sp>
      <p:sp>
        <p:nvSpPr>
          <p:cNvPr id="4" name="Content Placeholder 2">
            <a:extLst>
              <a:ext uri="{FF2B5EF4-FFF2-40B4-BE49-F238E27FC236}">
                <a16:creationId xmlns:a16="http://schemas.microsoft.com/office/drawing/2014/main" id="{05994028-B14F-B7E0-6657-418CA54A3B27}"/>
              </a:ext>
            </a:extLst>
          </p:cNvPr>
          <p:cNvSpPr>
            <a:spLocks noGrp="1"/>
          </p:cNvSpPr>
          <p:nvPr>
            <p:ph idx="1"/>
          </p:nvPr>
        </p:nvSpPr>
        <p:spPr>
          <a:xfrm>
            <a:off x="838200" y="1825625"/>
            <a:ext cx="10803467" cy="4351338"/>
          </a:xfrm>
        </p:spPr>
        <p:txBody>
          <a:bodyPr>
            <a:normAutofit/>
          </a:bodyPr>
          <a:lstStyle/>
          <a:p>
            <a:pPr marL="0" indent="0">
              <a:buNone/>
            </a:pPr>
            <a:r>
              <a:rPr lang="en-US" sz="2400" i="1" dirty="0"/>
              <a:t>Type answer here</a:t>
            </a:r>
          </a:p>
        </p:txBody>
      </p:sp>
    </p:spTree>
    <p:extLst>
      <p:ext uri="{BB962C8B-B14F-4D97-AF65-F5344CB8AC3E}">
        <p14:creationId xmlns:p14="http://schemas.microsoft.com/office/powerpoint/2010/main" val="3849001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D36-EB9E-B066-1BAD-0688F1A33603}"/>
              </a:ext>
            </a:extLst>
          </p:cNvPr>
          <p:cNvSpPr>
            <a:spLocks noGrp="1"/>
          </p:cNvSpPr>
          <p:nvPr>
            <p:ph type="title"/>
          </p:nvPr>
        </p:nvSpPr>
        <p:spPr>
          <a:xfrm>
            <a:off x="838200" y="111125"/>
            <a:ext cx="10515600" cy="1531407"/>
          </a:xfrm>
        </p:spPr>
        <p:txBody>
          <a:bodyPr>
            <a:normAutofit/>
          </a:bodyPr>
          <a:lstStyle/>
          <a:p>
            <a:r>
              <a:rPr lang="en-US" sz="2800" dirty="0"/>
              <a:t>Paste a screenshot of your Batch vs. ISAM2 update-time comparison. Explain how update time changes as the number of keyframes grows and connect it to the difference between the two methods. [5 pts]</a:t>
            </a:r>
          </a:p>
        </p:txBody>
      </p:sp>
      <p:sp>
        <p:nvSpPr>
          <p:cNvPr id="3" name="Content Placeholder 2">
            <a:extLst>
              <a:ext uri="{FF2B5EF4-FFF2-40B4-BE49-F238E27FC236}">
                <a16:creationId xmlns:a16="http://schemas.microsoft.com/office/drawing/2014/main" id="{341FF121-F908-E1F5-76C6-CEA0FFCE26C1}"/>
              </a:ext>
            </a:extLst>
          </p:cNvPr>
          <p:cNvSpPr>
            <a:spLocks noGrp="1"/>
          </p:cNvSpPr>
          <p:nvPr>
            <p:ph idx="1"/>
          </p:nvPr>
        </p:nvSpPr>
        <p:spPr>
          <a:xfrm>
            <a:off x="838200" y="1563158"/>
            <a:ext cx="4978400" cy="4351338"/>
          </a:xfrm>
        </p:spPr>
        <p:txBody>
          <a:bodyPr>
            <a:normAutofit/>
          </a:bodyPr>
          <a:lstStyle/>
          <a:p>
            <a:pPr marL="0" indent="0">
              <a:buNone/>
            </a:pPr>
            <a:r>
              <a:rPr lang="en-US" sz="2400" i="1" dirty="0"/>
              <a:t>Type answer here</a:t>
            </a:r>
          </a:p>
        </p:txBody>
      </p:sp>
      <p:sp>
        <p:nvSpPr>
          <p:cNvPr id="4" name="Content Placeholder 2">
            <a:extLst>
              <a:ext uri="{FF2B5EF4-FFF2-40B4-BE49-F238E27FC236}">
                <a16:creationId xmlns:a16="http://schemas.microsoft.com/office/drawing/2014/main" id="{88B5760F-136C-22A8-41F2-45ADE3BD0EAD}"/>
              </a:ext>
            </a:extLst>
          </p:cNvPr>
          <p:cNvSpPr txBox="1">
            <a:spLocks/>
          </p:cNvSpPr>
          <p:nvPr/>
        </p:nvSpPr>
        <p:spPr>
          <a:xfrm>
            <a:off x="6375400" y="1563158"/>
            <a:ext cx="4978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Paste screenshot here</a:t>
            </a:r>
          </a:p>
        </p:txBody>
      </p:sp>
    </p:spTree>
    <p:extLst>
      <p:ext uri="{BB962C8B-B14F-4D97-AF65-F5344CB8AC3E}">
        <p14:creationId xmlns:p14="http://schemas.microsoft.com/office/powerpoint/2010/main" val="3031350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20D1F-1B62-F1BD-9632-9AAD0CAD4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B030F-DC72-F3A6-F3EC-C9335BA0B578}"/>
              </a:ext>
            </a:extLst>
          </p:cNvPr>
          <p:cNvSpPr>
            <a:spLocks noGrp="1"/>
          </p:cNvSpPr>
          <p:nvPr>
            <p:ph type="title"/>
          </p:nvPr>
        </p:nvSpPr>
        <p:spPr>
          <a:xfrm>
            <a:off x="838200" y="48683"/>
            <a:ext cx="10515600" cy="1776942"/>
          </a:xfrm>
        </p:spPr>
        <p:txBody>
          <a:bodyPr>
            <a:normAutofit/>
          </a:bodyPr>
          <a:lstStyle/>
          <a:p>
            <a:r>
              <a:rPr lang="en-US" sz="2800" dirty="0"/>
              <a:t>Paste a screenshot of your comparison of IMU </a:t>
            </a:r>
            <a:r>
              <a:rPr lang="en-US" sz="2800" dirty="0" err="1"/>
              <a:t>preintegration</a:t>
            </a:r>
            <a:r>
              <a:rPr lang="en-US" sz="2800" dirty="0"/>
              <a:t> usage and enter your ATE RMSEs. Explain why IMU </a:t>
            </a:r>
            <a:r>
              <a:rPr lang="en-US" sz="2800" dirty="0" err="1"/>
              <a:t>preintegration</a:t>
            </a:r>
            <a:r>
              <a:rPr lang="en-US" sz="2800" dirty="0"/>
              <a:t> can sometimes degrade performance. Discuss a few plausible causes *. [5 pts]</a:t>
            </a:r>
          </a:p>
        </p:txBody>
      </p:sp>
      <p:sp>
        <p:nvSpPr>
          <p:cNvPr id="3" name="TextBox 2">
            <a:extLst>
              <a:ext uri="{FF2B5EF4-FFF2-40B4-BE49-F238E27FC236}">
                <a16:creationId xmlns:a16="http://schemas.microsoft.com/office/drawing/2014/main" id="{FC4A03DF-A12C-6CBA-397A-1C31D0E9850C}"/>
              </a:ext>
            </a:extLst>
          </p:cNvPr>
          <p:cNvSpPr txBox="1"/>
          <p:nvPr/>
        </p:nvSpPr>
        <p:spPr>
          <a:xfrm>
            <a:off x="734222" y="6162986"/>
            <a:ext cx="11011422" cy="646331"/>
          </a:xfrm>
          <a:prstGeom prst="rect">
            <a:avLst/>
          </a:prstGeom>
          <a:noFill/>
        </p:spPr>
        <p:txBody>
          <a:bodyPr wrap="square" rtlCol="0">
            <a:spAutoFit/>
          </a:bodyPr>
          <a:lstStyle/>
          <a:p>
            <a:r>
              <a:rPr lang="en-US" dirty="0"/>
              <a:t>* Examples of such causes could include sensor time offset, incorrect noise or bias settings, bad initialization, frame or extrinsic mismatch, or integration of biased high-rate measurements.</a:t>
            </a:r>
          </a:p>
        </p:txBody>
      </p:sp>
      <p:sp>
        <p:nvSpPr>
          <p:cNvPr id="9" name="Content Placeholder 2">
            <a:extLst>
              <a:ext uri="{FF2B5EF4-FFF2-40B4-BE49-F238E27FC236}">
                <a16:creationId xmlns:a16="http://schemas.microsoft.com/office/drawing/2014/main" id="{9932BD16-1E0D-FD0B-E369-97E8D13EB903}"/>
              </a:ext>
            </a:extLst>
          </p:cNvPr>
          <p:cNvSpPr txBox="1">
            <a:spLocks/>
          </p:cNvSpPr>
          <p:nvPr/>
        </p:nvSpPr>
        <p:spPr>
          <a:xfrm>
            <a:off x="838200" y="1563158"/>
            <a:ext cx="4978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a:t>Type answer here</a:t>
            </a:r>
            <a:endParaRPr lang="en-US" sz="2400" i="1" dirty="0"/>
          </a:p>
        </p:txBody>
      </p:sp>
      <p:sp>
        <p:nvSpPr>
          <p:cNvPr id="10" name="Content Placeholder 2">
            <a:extLst>
              <a:ext uri="{FF2B5EF4-FFF2-40B4-BE49-F238E27FC236}">
                <a16:creationId xmlns:a16="http://schemas.microsoft.com/office/drawing/2014/main" id="{C1FEAC51-4750-CB07-4065-89456C637EF5}"/>
              </a:ext>
            </a:extLst>
          </p:cNvPr>
          <p:cNvSpPr txBox="1">
            <a:spLocks/>
          </p:cNvSpPr>
          <p:nvPr/>
        </p:nvSpPr>
        <p:spPr>
          <a:xfrm>
            <a:off x="6375400" y="1563158"/>
            <a:ext cx="4978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Paste screenshot here</a:t>
            </a:r>
          </a:p>
        </p:txBody>
      </p:sp>
    </p:spTree>
    <p:extLst>
      <p:ext uri="{BB962C8B-B14F-4D97-AF65-F5344CB8AC3E}">
        <p14:creationId xmlns:p14="http://schemas.microsoft.com/office/powerpoint/2010/main" val="1351392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8258E-875E-6E24-303C-7BDB9EE65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D1761-6B1B-DD9D-EDDE-CC648FF36213}"/>
              </a:ext>
            </a:extLst>
          </p:cNvPr>
          <p:cNvSpPr>
            <a:spLocks noGrp="1"/>
          </p:cNvSpPr>
          <p:nvPr>
            <p:ph type="title"/>
          </p:nvPr>
        </p:nvSpPr>
        <p:spPr>
          <a:xfrm>
            <a:off x="838200" y="111125"/>
            <a:ext cx="10515600" cy="1531407"/>
          </a:xfrm>
        </p:spPr>
        <p:txBody>
          <a:bodyPr>
            <a:normAutofit fontScale="90000"/>
          </a:bodyPr>
          <a:lstStyle/>
          <a:p>
            <a:r>
              <a:rPr lang="en-US" sz="2800" dirty="0"/>
              <a:t>Paste a screenshot of your point-cloud map (batch or ISAM2; do not copy the image from notebook!). Comment on what parts look consistent and any artifacts or distortions. Why might our pipeline have distortions in the map?* [5 pts]</a:t>
            </a:r>
          </a:p>
        </p:txBody>
      </p:sp>
      <p:sp>
        <p:nvSpPr>
          <p:cNvPr id="3" name="Content Placeholder 2">
            <a:extLst>
              <a:ext uri="{FF2B5EF4-FFF2-40B4-BE49-F238E27FC236}">
                <a16:creationId xmlns:a16="http://schemas.microsoft.com/office/drawing/2014/main" id="{4773AD08-6397-4F8B-3513-5231FFBDE7E5}"/>
              </a:ext>
            </a:extLst>
          </p:cNvPr>
          <p:cNvSpPr>
            <a:spLocks noGrp="1"/>
          </p:cNvSpPr>
          <p:nvPr>
            <p:ph idx="1"/>
          </p:nvPr>
        </p:nvSpPr>
        <p:spPr>
          <a:xfrm>
            <a:off x="838200" y="1563158"/>
            <a:ext cx="4978400" cy="4351338"/>
          </a:xfrm>
        </p:spPr>
        <p:txBody>
          <a:bodyPr>
            <a:normAutofit/>
          </a:bodyPr>
          <a:lstStyle/>
          <a:p>
            <a:pPr marL="0" indent="0">
              <a:buNone/>
            </a:pPr>
            <a:r>
              <a:rPr lang="en-US" sz="2400" i="1" dirty="0"/>
              <a:t>Type answer here</a:t>
            </a:r>
          </a:p>
        </p:txBody>
      </p:sp>
      <p:sp>
        <p:nvSpPr>
          <p:cNvPr id="4" name="Content Placeholder 2">
            <a:extLst>
              <a:ext uri="{FF2B5EF4-FFF2-40B4-BE49-F238E27FC236}">
                <a16:creationId xmlns:a16="http://schemas.microsoft.com/office/drawing/2014/main" id="{67553AFD-0E65-CF76-D6B2-11BAE799E06B}"/>
              </a:ext>
            </a:extLst>
          </p:cNvPr>
          <p:cNvSpPr txBox="1">
            <a:spLocks/>
          </p:cNvSpPr>
          <p:nvPr/>
        </p:nvSpPr>
        <p:spPr>
          <a:xfrm>
            <a:off x="6375400" y="1563158"/>
            <a:ext cx="4978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Paste screenshot here</a:t>
            </a:r>
          </a:p>
        </p:txBody>
      </p:sp>
      <p:sp>
        <p:nvSpPr>
          <p:cNvPr id="5" name="TextBox 4">
            <a:extLst>
              <a:ext uri="{FF2B5EF4-FFF2-40B4-BE49-F238E27FC236}">
                <a16:creationId xmlns:a16="http://schemas.microsoft.com/office/drawing/2014/main" id="{D7D350C8-2C1A-2D65-0B55-598A86259B68}"/>
              </a:ext>
            </a:extLst>
          </p:cNvPr>
          <p:cNvSpPr txBox="1"/>
          <p:nvPr/>
        </p:nvSpPr>
        <p:spPr>
          <a:xfrm>
            <a:off x="734222" y="6162986"/>
            <a:ext cx="11011422" cy="646331"/>
          </a:xfrm>
          <a:prstGeom prst="rect">
            <a:avLst/>
          </a:prstGeom>
          <a:noFill/>
        </p:spPr>
        <p:txBody>
          <a:bodyPr wrap="square" rtlCol="0">
            <a:spAutoFit/>
          </a:bodyPr>
          <a:lstStyle/>
          <a:p>
            <a:r>
              <a:rPr lang="en-US" dirty="0"/>
              <a:t>*Reflect on the limits of calling this pipeline “SLAM.” Is it more precise to call it LiDAR-inertial odometry, SLAM, or a hybrid? Consider the presence or absence of loop closure, global consistency, and mapping behavior.</a:t>
            </a:r>
          </a:p>
        </p:txBody>
      </p:sp>
    </p:spTree>
    <p:extLst>
      <p:ext uri="{BB962C8B-B14F-4D97-AF65-F5344CB8AC3E}">
        <p14:creationId xmlns:p14="http://schemas.microsoft.com/office/powerpoint/2010/main" val="175583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30FD0-695E-5AF1-EC21-7B2EC10EE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112FC-34B8-9350-5034-576A742227A5}"/>
              </a:ext>
            </a:extLst>
          </p:cNvPr>
          <p:cNvSpPr>
            <a:spLocks noGrp="1"/>
          </p:cNvSpPr>
          <p:nvPr>
            <p:ph type="title"/>
          </p:nvPr>
        </p:nvSpPr>
        <p:spPr>
          <a:xfrm>
            <a:off x="838200" y="251883"/>
            <a:ext cx="10515600" cy="1026583"/>
          </a:xfrm>
        </p:spPr>
        <p:txBody>
          <a:bodyPr>
            <a:normAutofit/>
          </a:bodyPr>
          <a:lstStyle/>
          <a:p>
            <a:r>
              <a:rPr lang="en-US" sz="2800" dirty="0"/>
              <a:t>In your final stitched global point-cloud map, find the </a:t>
            </a:r>
            <a:r>
              <a:rPr lang="en-US" sz="2800" b="1" dirty="0"/>
              <a:t>UCLA Bruin Bear</a:t>
            </a:r>
            <a:r>
              <a:rPr lang="en-US" sz="2800" dirty="0"/>
              <a:t> and take a screenshot! [Bonus +1 pt]</a:t>
            </a:r>
          </a:p>
        </p:txBody>
      </p:sp>
      <p:sp>
        <p:nvSpPr>
          <p:cNvPr id="6" name="Content Placeholder 2">
            <a:extLst>
              <a:ext uri="{FF2B5EF4-FFF2-40B4-BE49-F238E27FC236}">
                <a16:creationId xmlns:a16="http://schemas.microsoft.com/office/drawing/2014/main" id="{CE9B96EF-2E7F-97E4-1254-D415D1510E86}"/>
              </a:ext>
            </a:extLst>
          </p:cNvPr>
          <p:cNvSpPr txBox="1">
            <a:spLocks/>
          </p:cNvSpPr>
          <p:nvPr/>
        </p:nvSpPr>
        <p:spPr>
          <a:xfrm>
            <a:off x="838199" y="1563158"/>
            <a:ext cx="84060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Paste screenshot here</a:t>
            </a:r>
          </a:p>
        </p:txBody>
      </p:sp>
      <p:pic>
        <p:nvPicPr>
          <p:cNvPr id="1026" name="Picture 2" descr="In 1984, the @UCLA Alumni Association celebrated its 50th anniversary by  presenting &quot;The Bruin&quot; statue, located at Bruin Plaza. It was built as the  largest bear sculpture in the USA weighing more">
            <a:extLst>
              <a:ext uri="{FF2B5EF4-FFF2-40B4-BE49-F238E27FC236}">
                <a16:creationId xmlns:a16="http://schemas.microsoft.com/office/drawing/2014/main" id="{7D9D5419-AAA1-D6AC-7579-B101E04CF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5063" y="4121063"/>
            <a:ext cx="2736937" cy="27369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75FE37D-FACB-31C0-0E75-0F577BFB2742}"/>
              </a:ext>
            </a:extLst>
          </p:cNvPr>
          <p:cNvSpPr txBox="1"/>
          <p:nvPr/>
        </p:nvSpPr>
        <p:spPr>
          <a:xfrm>
            <a:off x="9884079" y="3751731"/>
            <a:ext cx="1878904" cy="369332"/>
          </a:xfrm>
          <a:prstGeom prst="rect">
            <a:avLst/>
          </a:prstGeom>
          <a:noFill/>
        </p:spPr>
        <p:txBody>
          <a:bodyPr wrap="square" rtlCol="0">
            <a:spAutoFit/>
          </a:bodyPr>
          <a:lstStyle/>
          <a:p>
            <a:pPr algn="ctr"/>
            <a:r>
              <a:rPr lang="en-US" u="sng" dirty="0"/>
              <a:t>Reference</a:t>
            </a:r>
          </a:p>
        </p:txBody>
      </p:sp>
    </p:spTree>
    <p:extLst>
      <p:ext uri="{BB962C8B-B14F-4D97-AF65-F5344CB8AC3E}">
        <p14:creationId xmlns:p14="http://schemas.microsoft.com/office/powerpoint/2010/main" val="805675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360</Words>
  <Application>Microsoft Macintosh PowerPoint</Application>
  <PresentationFormat>Widescreen</PresentationFormat>
  <Paragraphs>23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CS 4803/8803 P4c Reflection</vt:lpstr>
      <vt:lpstr>Explain the role of IMU preintegration in this pipeline. What information is being accumulated between LiDAR keyframes, and why is it useful instead of adding one factor per raw IMU sample? [5 pts]</vt:lpstr>
      <vt:lpstr>Explain the purpose of the bias-evolution factor. Why is it not enough to add only an IMU factor between consecutive states? What modeling assumption is the bias factor capturing? [5 pts]</vt:lpstr>
      <vt:lpstr>Paste a screenshot of your Batch vs. ISAM2 update-time comparison. Explain how update time changes as the number of keyframes grows and connect it to the difference between the two methods. [5 pts]</vt:lpstr>
      <vt:lpstr>Paste a screenshot of your comparison of IMU preintegration usage and enter your ATE RMSEs. Explain why IMU preintegration can sometimes degrade performance. Discuss a few plausible causes *. [5 pts]</vt:lpstr>
      <vt:lpstr>Paste a screenshot of your point-cloud map (batch or ISAM2; do not copy the image from notebook!). Comment on what parts look consistent and any artifacts or distortions. Why might our pipeline have distortions in the map?* [5 pts]</vt:lpstr>
      <vt:lpstr>In your final stitched global point-cloud map, find the UCLA Bruin Bear and take a screenshot! [Bonus +1 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Divyam Kumar</dc:creator>
  <cp:lastModifiedBy>Woodward, Matthew C</cp:lastModifiedBy>
  <cp:revision>48</cp:revision>
  <dcterms:created xsi:type="dcterms:W3CDTF">2026-01-24T09:19:25Z</dcterms:created>
  <dcterms:modified xsi:type="dcterms:W3CDTF">2026-04-15T01:47:57Z</dcterms:modified>
</cp:coreProperties>
</file>