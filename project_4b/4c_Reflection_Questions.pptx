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69" r:id="rId4"/>
    <p:sldId id="257" r:id="rId5"/>
    <p:sldId id="266" r:id="rId6"/>
    <p:sldId id="267" r:id="rId7"/>
    <p:sldId id="268"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456EC6-0BBE-0149-B47B-82C0A6C14C41}" v="8" dt="2026-04-24T03:42:39.80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567"/>
    <p:restoredTop sz="94700"/>
  </p:normalViewPr>
  <p:slideViewPr>
    <p:cSldViewPr snapToGrid="0">
      <p:cViewPr varScale="1">
        <p:scale>
          <a:sx n="81" d="100"/>
          <a:sy n="81" d="100"/>
        </p:scale>
        <p:origin x="192" y="122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ediratta, Ojas" userId="0b414c54-38e7-421b-b6da-e3c6c1dcc7a6" providerId="ADAL" clId="{DF7E4C28-C197-5838-9C8F-6DD81E6275B3}"/>
    <pc:docChg chg="custSel modSld">
      <pc:chgData name="Mediratta, Ojas" userId="0b414c54-38e7-421b-b6da-e3c6c1dcc7a6" providerId="ADAL" clId="{DF7E4C28-C197-5838-9C8F-6DD81E6275B3}" dt="2026-04-24T03:42:53.718" v="144" actId="20577"/>
      <pc:docMkLst>
        <pc:docMk/>
      </pc:docMkLst>
      <pc:sldChg chg="modSp mod">
        <pc:chgData name="Mediratta, Ojas" userId="0b414c54-38e7-421b-b6da-e3c6c1dcc7a6" providerId="ADAL" clId="{DF7E4C28-C197-5838-9C8F-6DD81E6275B3}" dt="2026-04-24T02:48:57.672" v="51" actId="20577"/>
        <pc:sldMkLst>
          <pc:docMk/>
          <pc:sldMk cId="3651844019" sldId="256"/>
        </pc:sldMkLst>
        <pc:spChg chg="mod">
          <ac:chgData name="Mediratta, Ojas" userId="0b414c54-38e7-421b-b6da-e3c6c1dcc7a6" providerId="ADAL" clId="{DF7E4C28-C197-5838-9C8F-6DD81E6275B3}" dt="2026-04-24T02:48:57.672" v="51" actId="20577"/>
          <ac:spMkLst>
            <pc:docMk/>
            <pc:sldMk cId="3651844019" sldId="256"/>
            <ac:spMk id="3" creationId="{498E9311-0349-FD8A-5F59-792F3D35D5E2}"/>
          </ac:spMkLst>
        </pc:spChg>
      </pc:sldChg>
      <pc:sldChg chg="addSp delSp modSp mod">
        <pc:chgData name="Mediratta, Ojas" userId="0b414c54-38e7-421b-b6da-e3c6c1dcc7a6" providerId="ADAL" clId="{DF7E4C28-C197-5838-9C8F-6DD81E6275B3}" dt="2026-04-24T03:33:58.857" v="93" actId="1076"/>
        <pc:sldMkLst>
          <pc:docMk/>
          <pc:sldMk cId="3031350474" sldId="257"/>
        </pc:sldMkLst>
        <pc:spChg chg="mod">
          <ac:chgData name="Mediratta, Ojas" userId="0b414c54-38e7-421b-b6da-e3c6c1dcc7a6" providerId="ADAL" clId="{DF7E4C28-C197-5838-9C8F-6DD81E6275B3}" dt="2026-04-24T03:33:52.206" v="89" actId="27636"/>
          <ac:spMkLst>
            <pc:docMk/>
            <pc:sldMk cId="3031350474" sldId="257"/>
            <ac:spMk id="3" creationId="{341FF121-F908-E1F5-76C6-CEA0FFCE26C1}"/>
          </ac:spMkLst>
        </pc:spChg>
        <pc:spChg chg="del">
          <ac:chgData name="Mediratta, Ojas" userId="0b414c54-38e7-421b-b6da-e3c6c1dcc7a6" providerId="ADAL" clId="{DF7E4C28-C197-5838-9C8F-6DD81E6275B3}" dt="2026-04-24T03:32:36.051" v="68" actId="478"/>
          <ac:spMkLst>
            <pc:docMk/>
            <pc:sldMk cId="3031350474" sldId="257"/>
            <ac:spMk id="4" creationId="{88B5760F-136C-22A8-41F2-45ADE3BD0EAD}"/>
          </ac:spMkLst>
        </pc:spChg>
        <pc:picChg chg="add mod">
          <ac:chgData name="Mediratta, Ojas" userId="0b414c54-38e7-421b-b6da-e3c6c1dcc7a6" providerId="ADAL" clId="{DF7E4C28-C197-5838-9C8F-6DD81E6275B3}" dt="2026-04-24T03:33:58.857" v="93" actId="1076"/>
          <ac:picMkLst>
            <pc:docMk/>
            <pc:sldMk cId="3031350474" sldId="257"/>
            <ac:picMk id="5" creationId="{FA58FD3C-6B90-124D-B76B-DDB90214B8C3}"/>
          </ac:picMkLst>
        </pc:picChg>
      </pc:sldChg>
      <pc:sldChg chg="modSp mod">
        <pc:chgData name="Mediratta, Ojas" userId="0b414c54-38e7-421b-b6da-e3c6c1dcc7a6" providerId="ADAL" clId="{DF7E4C28-C197-5838-9C8F-6DD81E6275B3}" dt="2026-04-24T02:50:30.894" v="56" actId="114"/>
        <pc:sldMkLst>
          <pc:docMk/>
          <pc:sldMk cId="448509744" sldId="263"/>
        </pc:sldMkLst>
        <pc:spChg chg="mod">
          <ac:chgData name="Mediratta, Ojas" userId="0b414c54-38e7-421b-b6da-e3c6c1dcc7a6" providerId="ADAL" clId="{DF7E4C28-C197-5838-9C8F-6DD81E6275B3}" dt="2026-04-24T02:50:30.894" v="56" actId="114"/>
          <ac:spMkLst>
            <pc:docMk/>
            <pc:sldMk cId="448509744" sldId="263"/>
            <ac:spMk id="4" creationId="{6ED0A962-2D78-07E9-DB9E-7071997E3491}"/>
          </ac:spMkLst>
        </pc:spChg>
      </pc:sldChg>
      <pc:sldChg chg="addSp delSp modSp mod">
        <pc:chgData name="Mediratta, Ojas" userId="0b414c54-38e7-421b-b6da-e3c6c1dcc7a6" providerId="ADAL" clId="{DF7E4C28-C197-5838-9C8F-6DD81E6275B3}" dt="2026-04-24T03:38:44.554" v="128" actId="27636"/>
        <pc:sldMkLst>
          <pc:docMk/>
          <pc:sldMk cId="1351392675" sldId="266"/>
        </pc:sldMkLst>
        <pc:spChg chg="mod">
          <ac:chgData name="Mediratta, Ojas" userId="0b414c54-38e7-421b-b6da-e3c6c1dcc7a6" providerId="ADAL" clId="{DF7E4C28-C197-5838-9C8F-6DD81E6275B3}" dt="2026-04-24T03:38:44.554" v="128" actId="27636"/>
          <ac:spMkLst>
            <pc:docMk/>
            <pc:sldMk cId="1351392675" sldId="266"/>
            <ac:spMk id="9" creationId="{9932BD16-1E0D-FD0B-E369-97E8D13EB903}"/>
          </ac:spMkLst>
        </pc:spChg>
        <pc:spChg chg="del">
          <ac:chgData name="Mediratta, Ojas" userId="0b414c54-38e7-421b-b6da-e3c6c1dcc7a6" providerId="ADAL" clId="{DF7E4C28-C197-5838-9C8F-6DD81E6275B3}" dt="2026-04-24T03:33:12.607" v="72" actId="478"/>
          <ac:spMkLst>
            <pc:docMk/>
            <pc:sldMk cId="1351392675" sldId="266"/>
            <ac:spMk id="10" creationId="{C1FEAC51-4750-CB07-4065-89456C637EF5}"/>
          </ac:spMkLst>
        </pc:spChg>
        <pc:picChg chg="add mod">
          <ac:chgData name="Mediratta, Ojas" userId="0b414c54-38e7-421b-b6da-e3c6c1dcc7a6" providerId="ADAL" clId="{DF7E4C28-C197-5838-9C8F-6DD81E6275B3}" dt="2026-04-24T03:33:16.361" v="74" actId="1076"/>
          <ac:picMkLst>
            <pc:docMk/>
            <pc:sldMk cId="1351392675" sldId="266"/>
            <ac:picMk id="4" creationId="{3F67CB60-8FC3-9878-BF89-97F2210E6F36}"/>
          </ac:picMkLst>
        </pc:picChg>
      </pc:sldChg>
      <pc:sldChg chg="addSp modSp mod">
        <pc:chgData name="Mediratta, Ojas" userId="0b414c54-38e7-421b-b6da-e3c6c1dcc7a6" providerId="ADAL" clId="{DF7E4C28-C197-5838-9C8F-6DD81E6275B3}" dt="2026-04-24T03:42:53.718" v="144" actId="20577"/>
        <pc:sldMkLst>
          <pc:docMk/>
          <pc:sldMk cId="175583713" sldId="267"/>
        </pc:sldMkLst>
        <pc:spChg chg="mod">
          <ac:chgData name="Mediratta, Ojas" userId="0b414c54-38e7-421b-b6da-e3c6c1dcc7a6" providerId="ADAL" clId="{DF7E4C28-C197-5838-9C8F-6DD81E6275B3}" dt="2026-04-24T03:42:53.718" v="144" actId="20577"/>
          <ac:spMkLst>
            <pc:docMk/>
            <pc:sldMk cId="175583713" sldId="267"/>
            <ac:spMk id="3" creationId="{4773AD08-6397-4F8B-3513-5231FFBDE7E5}"/>
          </ac:spMkLst>
        </pc:spChg>
        <pc:spChg chg="mod">
          <ac:chgData name="Mediratta, Ojas" userId="0b414c54-38e7-421b-b6da-e3c6c1dcc7a6" providerId="ADAL" clId="{DF7E4C28-C197-5838-9C8F-6DD81E6275B3}" dt="2026-04-24T03:36:54.954" v="120" actId="14100"/>
          <ac:spMkLst>
            <pc:docMk/>
            <pc:sldMk cId="175583713" sldId="267"/>
            <ac:spMk id="4" creationId="{67553AFD-0E65-CF76-D6B2-11BAE799E06B}"/>
          </ac:spMkLst>
        </pc:spChg>
        <pc:picChg chg="add mod">
          <ac:chgData name="Mediratta, Ojas" userId="0b414c54-38e7-421b-b6da-e3c6c1dcc7a6" providerId="ADAL" clId="{DF7E4C28-C197-5838-9C8F-6DD81E6275B3}" dt="2026-04-24T03:36:49.720" v="119" actId="1076"/>
          <ac:picMkLst>
            <pc:docMk/>
            <pc:sldMk cId="175583713" sldId="267"/>
            <ac:picMk id="6" creationId="{DA8D0CB1-2831-8DE8-4199-9380BC725DF7}"/>
          </ac:picMkLst>
        </pc:picChg>
      </pc:sldChg>
      <pc:sldChg chg="modSp mod">
        <pc:chgData name="Mediratta, Ojas" userId="0b414c54-38e7-421b-b6da-e3c6c1dcc7a6" providerId="ADAL" clId="{DF7E4C28-C197-5838-9C8F-6DD81E6275B3}" dt="2026-04-24T02:50:57.889" v="67" actId="20577"/>
        <pc:sldMkLst>
          <pc:docMk/>
          <pc:sldMk cId="3849001698" sldId="269"/>
        </pc:sldMkLst>
        <pc:spChg chg="mod">
          <ac:chgData name="Mediratta, Ojas" userId="0b414c54-38e7-421b-b6da-e3c6c1dcc7a6" providerId="ADAL" clId="{DF7E4C28-C197-5838-9C8F-6DD81E6275B3}" dt="2026-04-24T02:50:57.889" v="67" actId="20577"/>
          <ac:spMkLst>
            <pc:docMk/>
            <pc:sldMk cId="3849001698" sldId="269"/>
            <ac:spMk id="4" creationId="{05994028-B14F-B7E0-6657-418CA54A3B27}"/>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9643D2-BD69-6DB1-E756-F47E010F07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BE1600A-0BDC-6FB7-5F32-5D6FAB04B6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A4F26C2-B3C9-2D53-9B25-4618C14365AA}"/>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5" name="Footer Placeholder 4">
            <a:extLst>
              <a:ext uri="{FF2B5EF4-FFF2-40B4-BE49-F238E27FC236}">
                <a16:creationId xmlns:a16="http://schemas.microsoft.com/office/drawing/2014/main" id="{D123ED23-A1BC-88D1-F161-4BB3D04D2B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CA91FD-075E-5D5B-5476-5F75C74439A4}"/>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37073382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8DA7B-D719-F2FB-96DC-7FF848D4E86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239D6D-6535-8C4A-C2E9-06A32AB0476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69046B6-E289-27D2-6A3C-3EA9BA9DE8C2}"/>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5" name="Footer Placeholder 4">
            <a:extLst>
              <a:ext uri="{FF2B5EF4-FFF2-40B4-BE49-F238E27FC236}">
                <a16:creationId xmlns:a16="http://schemas.microsoft.com/office/drawing/2014/main" id="{4A232D74-AC33-F5E9-904F-7CA8D10F83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0A4ED7-0B04-EC71-AD6D-2271F108D064}"/>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14344836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5F875-8983-706B-D540-97E08B668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B8C12CD-0226-FE37-9495-A995BFDAA5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1EC20D6-CB5C-C48B-278C-DE12F952E28E}"/>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5" name="Footer Placeholder 4">
            <a:extLst>
              <a:ext uri="{FF2B5EF4-FFF2-40B4-BE49-F238E27FC236}">
                <a16:creationId xmlns:a16="http://schemas.microsoft.com/office/drawing/2014/main" id="{0E549C80-C926-AC01-65F3-85D8A3E41B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345B6A-8362-0DED-5D51-59C43B9A821E}"/>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625183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2F35B2-08E3-1876-4D66-E18F2E2BD1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CDFFC15-743A-3F91-6070-63223962FC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A9576E6-9BFE-9FC0-11AC-B895376B0B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84C183C-D5B9-4113-F059-21C36B38C033}"/>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6" name="Footer Placeholder 5">
            <a:extLst>
              <a:ext uri="{FF2B5EF4-FFF2-40B4-BE49-F238E27FC236}">
                <a16:creationId xmlns:a16="http://schemas.microsoft.com/office/drawing/2014/main" id="{46C45E65-3DBD-75EC-6F47-D80A5EE2FA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DFD647-2279-85FF-BB7C-772B6A33163A}"/>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17391506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3D1E-1F27-984B-4588-557DE6C40A4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D8BE35-2755-FD1F-556D-3172D8120C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5BBA2A3-41C9-C313-A557-BCC2059ADB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BED669F-B0E8-3E72-E584-4D157F6BD7D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B60103B-D99C-4CC6-74FD-0D0BABEC98F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D10524-8E7F-9B2D-9EE0-BD1185C1EAD8}"/>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8" name="Footer Placeholder 7">
            <a:extLst>
              <a:ext uri="{FF2B5EF4-FFF2-40B4-BE49-F238E27FC236}">
                <a16:creationId xmlns:a16="http://schemas.microsoft.com/office/drawing/2014/main" id="{CC7F4854-BDA9-E45B-2BAA-438A7C3EC31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EBAA5BF-1F8A-3B2B-6198-1B4ACA469ABA}"/>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755830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DE7B4-8849-15FD-03A1-F1F7740E1C6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C251D0F-7149-BDB4-1816-403BBCF81BD3}"/>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4" name="Footer Placeholder 3">
            <a:extLst>
              <a:ext uri="{FF2B5EF4-FFF2-40B4-BE49-F238E27FC236}">
                <a16:creationId xmlns:a16="http://schemas.microsoft.com/office/drawing/2014/main" id="{CF1910DC-C069-0A1D-5C5B-7DCF0E43225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BC3359-F225-718F-A4B5-E7D2A7465016}"/>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446318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A3E4D3-B04C-9E7A-D9C7-88326C188292}"/>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3" name="Footer Placeholder 2">
            <a:extLst>
              <a:ext uri="{FF2B5EF4-FFF2-40B4-BE49-F238E27FC236}">
                <a16:creationId xmlns:a16="http://schemas.microsoft.com/office/drawing/2014/main" id="{1981FD00-A0E4-8AB5-BBD9-927EDE7029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7383A7F-5BE6-92DE-CABB-7408F024C163}"/>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24746307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C42B-938D-D2C3-6591-D7A10405ED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6085E5-F05F-44E2-1A61-CC36ECCE41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B90A5-78F8-8164-CA69-5D58564D51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529931-C80D-DE10-C78A-2C66524DDAA9}"/>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6" name="Footer Placeholder 5">
            <a:extLst>
              <a:ext uri="{FF2B5EF4-FFF2-40B4-BE49-F238E27FC236}">
                <a16:creationId xmlns:a16="http://schemas.microsoft.com/office/drawing/2014/main" id="{35C6252F-A942-2B27-3DE8-04812156A1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7B124A-9803-71FC-6A0F-C5B8217EB048}"/>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40792158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8B20F-0845-3626-6133-FE7E614970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D40D54-B0CB-FB0E-2B3B-B8F612E415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5CD950-7CF9-B689-82C9-800E8336FD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C73AAF2-A929-0B8D-8C86-72BB9CE24D31}"/>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6" name="Footer Placeholder 5">
            <a:extLst>
              <a:ext uri="{FF2B5EF4-FFF2-40B4-BE49-F238E27FC236}">
                <a16:creationId xmlns:a16="http://schemas.microsoft.com/office/drawing/2014/main" id="{A4150CEE-4973-3ED0-1B4E-7A202A743AB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7C7F79-A490-5568-06DE-2956135B1CEE}"/>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27254340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66BE3D-3EC0-83A1-1B26-E00B8736ADE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DAD8E2B-B852-F5E5-4087-4B88CD13B66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30E7F-61B8-71C7-8B15-1BA2F762EC9F}"/>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5" name="Footer Placeholder 4">
            <a:extLst>
              <a:ext uri="{FF2B5EF4-FFF2-40B4-BE49-F238E27FC236}">
                <a16:creationId xmlns:a16="http://schemas.microsoft.com/office/drawing/2014/main" id="{525398C3-D0CF-3745-1A0F-9110A09493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FE2062-5F55-FB65-F525-3AA410C0AAB5}"/>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26982844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6B2EC2B-789C-2ACB-CE0A-94F5E10179A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0E7C7EB-948C-72DF-F2C1-8975D76D944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CDA9B-A537-D707-D430-8508174AD3A5}"/>
              </a:ext>
            </a:extLst>
          </p:cNvPr>
          <p:cNvSpPr>
            <a:spLocks noGrp="1"/>
          </p:cNvSpPr>
          <p:nvPr>
            <p:ph type="dt" sz="half" idx="10"/>
          </p:nvPr>
        </p:nvSpPr>
        <p:spPr/>
        <p:txBody>
          <a:bodyPr/>
          <a:lstStyle/>
          <a:p>
            <a:fld id="{E5406C7D-96B9-4210-A821-CA0D29017C6B}" type="datetimeFigureOut">
              <a:rPr lang="en-US" smtClean="0"/>
              <a:t>4/23/26</a:t>
            </a:fld>
            <a:endParaRPr lang="en-US"/>
          </a:p>
        </p:txBody>
      </p:sp>
      <p:sp>
        <p:nvSpPr>
          <p:cNvPr id="5" name="Footer Placeholder 4">
            <a:extLst>
              <a:ext uri="{FF2B5EF4-FFF2-40B4-BE49-F238E27FC236}">
                <a16:creationId xmlns:a16="http://schemas.microsoft.com/office/drawing/2014/main" id="{49B8A1A7-0E2C-53ED-53EB-B0433E5037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D353D3-6C1D-4403-B0CF-7B9191ABCD6B}"/>
              </a:ext>
            </a:extLst>
          </p:cNvPr>
          <p:cNvSpPr>
            <a:spLocks noGrp="1"/>
          </p:cNvSpPr>
          <p:nvPr>
            <p:ph type="sldNum" sz="quarter" idx="12"/>
          </p:nvPr>
        </p:nvSpPr>
        <p:spPr/>
        <p:txBody>
          <a:bodyPr/>
          <a:lstStyle/>
          <a:p>
            <a:fld id="{06E99F25-048C-49D1-A62F-02E0783F3D5A}" type="slidenum">
              <a:rPr lang="en-US" smtClean="0"/>
              <a:t>‹#›</a:t>
            </a:fld>
            <a:endParaRPr lang="en-US"/>
          </a:p>
        </p:txBody>
      </p:sp>
    </p:spTree>
    <p:extLst>
      <p:ext uri="{BB962C8B-B14F-4D97-AF65-F5344CB8AC3E}">
        <p14:creationId xmlns:p14="http://schemas.microsoft.com/office/powerpoint/2010/main" val="28875140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BC54262-A1BE-2C4F-3383-A4385976C09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E8B805-B01F-3893-53FA-1F8D902066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DC8857-1E6D-9FDB-6770-A00FFF6C539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5406C7D-96B9-4210-A821-CA0D29017C6B}" type="datetimeFigureOut">
              <a:rPr lang="en-US" smtClean="0"/>
              <a:t>4/23/26</a:t>
            </a:fld>
            <a:endParaRPr lang="en-US"/>
          </a:p>
        </p:txBody>
      </p:sp>
      <p:sp>
        <p:nvSpPr>
          <p:cNvPr id="5" name="Footer Placeholder 4">
            <a:extLst>
              <a:ext uri="{FF2B5EF4-FFF2-40B4-BE49-F238E27FC236}">
                <a16:creationId xmlns:a16="http://schemas.microsoft.com/office/drawing/2014/main" id="{13DF8A06-94A5-4778-0191-6427C0F98F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2B91BD9-A7F6-1E1D-A1F0-AABE91F67A5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E99F25-048C-49D1-A62F-02E0783F3D5A}" type="slidenum">
              <a:rPr lang="en-US" smtClean="0"/>
              <a:t>‹#›</a:t>
            </a:fld>
            <a:endParaRPr lang="en-US"/>
          </a:p>
        </p:txBody>
      </p:sp>
    </p:spTree>
    <p:extLst>
      <p:ext uri="{BB962C8B-B14F-4D97-AF65-F5344CB8AC3E}">
        <p14:creationId xmlns:p14="http://schemas.microsoft.com/office/powerpoint/2010/main" val="28436008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4E996-FCBC-E219-9017-65F962F1E87B}"/>
              </a:ext>
            </a:extLst>
          </p:cNvPr>
          <p:cNvSpPr>
            <a:spLocks noGrp="1"/>
          </p:cNvSpPr>
          <p:nvPr>
            <p:ph type="ctrTitle"/>
          </p:nvPr>
        </p:nvSpPr>
        <p:spPr>
          <a:xfrm>
            <a:off x="1092201" y="1769533"/>
            <a:ext cx="9872132" cy="1105430"/>
          </a:xfrm>
        </p:spPr>
        <p:txBody>
          <a:bodyPr>
            <a:normAutofit/>
          </a:bodyPr>
          <a:lstStyle/>
          <a:p>
            <a:r>
              <a:rPr lang="en-US" dirty="0"/>
              <a:t>CS 4803/8803 P4c Reflection</a:t>
            </a:r>
          </a:p>
        </p:txBody>
      </p:sp>
      <p:sp>
        <p:nvSpPr>
          <p:cNvPr id="3" name="Subtitle 2">
            <a:extLst>
              <a:ext uri="{FF2B5EF4-FFF2-40B4-BE49-F238E27FC236}">
                <a16:creationId xmlns:a16="http://schemas.microsoft.com/office/drawing/2014/main" id="{498E9311-0349-FD8A-5F59-792F3D35D5E2}"/>
              </a:ext>
            </a:extLst>
          </p:cNvPr>
          <p:cNvSpPr>
            <a:spLocks noGrp="1"/>
          </p:cNvSpPr>
          <p:nvPr>
            <p:ph type="subTitle" idx="1"/>
          </p:nvPr>
        </p:nvSpPr>
        <p:spPr>
          <a:xfrm>
            <a:off x="1524000" y="2958571"/>
            <a:ext cx="9144000" cy="1655762"/>
          </a:xfrm>
        </p:spPr>
        <p:txBody>
          <a:bodyPr>
            <a:normAutofit/>
          </a:bodyPr>
          <a:lstStyle/>
          <a:p>
            <a:r>
              <a:rPr lang="en-US" sz="2800" dirty="0"/>
              <a:t>Ojas Mediratta</a:t>
            </a:r>
          </a:p>
          <a:p>
            <a:r>
              <a:rPr lang="en-US" sz="2800" dirty="0"/>
              <a:t>omediratta3@gatech.edu</a:t>
            </a:r>
          </a:p>
          <a:p>
            <a:r>
              <a:rPr lang="en-US" sz="2800" dirty="0"/>
              <a:t>903678112</a:t>
            </a:r>
          </a:p>
        </p:txBody>
      </p:sp>
      <p:sp>
        <p:nvSpPr>
          <p:cNvPr id="4" name="Subtitle 2">
            <a:extLst>
              <a:ext uri="{FF2B5EF4-FFF2-40B4-BE49-F238E27FC236}">
                <a16:creationId xmlns:a16="http://schemas.microsoft.com/office/drawing/2014/main" id="{E6F89707-D23C-D080-96D2-5BCA4BD51F89}"/>
              </a:ext>
            </a:extLst>
          </p:cNvPr>
          <p:cNvSpPr txBox="1">
            <a:spLocks/>
          </p:cNvSpPr>
          <p:nvPr/>
        </p:nvSpPr>
        <p:spPr>
          <a:xfrm>
            <a:off x="783167" y="4973640"/>
            <a:ext cx="10490200" cy="110543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Provide your answer on the appropriate slide. Add new slides if necessary but ensure you assign them to the appropriate question on Gradescope.</a:t>
            </a:r>
            <a:endParaRPr lang="en-US" sz="2000" dirty="0"/>
          </a:p>
        </p:txBody>
      </p:sp>
    </p:spTree>
    <p:extLst>
      <p:ext uri="{BB962C8B-B14F-4D97-AF65-F5344CB8AC3E}">
        <p14:creationId xmlns:p14="http://schemas.microsoft.com/office/powerpoint/2010/main" val="36518440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5D99E-0EB8-3760-E3A8-5B4A9BF2A4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460153-DD21-0E8D-D9DD-7F88474A52F6}"/>
              </a:ext>
            </a:extLst>
          </p:cNvPr>
          <p:cNvSpPr>
            <a:spLocks noGrp="1"/>
          </p:cNvSpPr>
          <p:nvPr>
            <p:ph type="title"/>
          </p:nvPr>
        </p:nvSpPr>
        <p:spPr>
          <a:xfrm>
            <a:off x="838200" y="48683"/>
            <a:ext cx="10515600" cy="1776942"/>
          </a:xfrm>
        </p:spPr>
        <p:txBody>
          <a:bodyPr>
            <a:normAutofit/>
          </a:bodyPr>
          <a:lstStyle/>
          <a:p>
            <a:r>
              <a:rPr lang="en-US" sz="2800" dirty="0"/>
              <a:t>Explain the role of IMU </a:t>
            </a:r>
            <a:r>
              <a:rPr lang="en-US" sz="2800" dirty="0" err="1"/>
              <a:t>preintegration</a:t>
            </a:r>
            <a:r>
              <a:rPr lang="en-US" sz="2800" dirty="0"/>
              <a:t> in this pipeline. What information is being accumulated between LiDAR keyframes, and why is it useful instead of adding one factor per raw IMU sample? [5 pts]</a:t>
            </a:r>
          </a:p>
        </p:txBody>
      </p:sp>
      <p:sp>
        <p:nvSpPr>
          <p:cNvPr id="4" name="Content Placeholder 2">
            <a:extLst>
              <a:ext uri="{FF2B5EF4-FFF2-40B4-BE49-F238E27FC236}">
                <a16:creationId xmlns:a16="http://schemas.microsoft.com/office/drawing/2014/main" id="{6ED0A962-2D78-07E9-DB9E-7071997E3491}"/>
              </a:ext>
            </a:extLst>
          </p:cNvPr>
          <p:cNvSpPr>
            <a:spLocks noGrp="1"/>
          </p:cNvSpPr>
          <p:nvPr>
            <p:ph idx="1"/>
          </p:nvPr>
        </p:nvSpPr>
        <p:spPr>
          <a:xfrm>
            <a:off x="838200" y="1825625"/>
            <a:ext cx="10803467" cy="4351338"/>
          </a:xfrm>
        </p:spPr>
        <p:txBody>
          <a:bodyPr>
            <a:normAutofit/>
          </a:bodyPr>
          <a:lstStyle/>
          <a:p>
            <a:pPr marL="0" indent="0">
              <a:buNone/>
            </a:pPr>
            <a:r>
              <a:rPr lang="en-US" i="1" dirty="0"/>
              <a:t>IMU </a:t>
            </a:r>
            <a:r>
              <a:rPr lang="en-US" i="1" dirty="0" err="1"/>
              <a:t>preintegration</a:t>
            </a:r>
            <a:r>
              <a:rPr lang="en-US" i="1" dirty="0"/>
              <a:t> basically bundles up lots of fast IMU readings into one motion estimate between LiDAR keyframes. It keeps track of the change in orientation, velocity, and position implied by the IMU samples, plus the time gaps between them.</a:t>
            </a:r>
          </a:p>
          <a:p>
            <a:pPr marL="0" indent="0">
              <a:buNone/>
            </a:pPr>
            <a:r>
              <a:rPr lang="en-US" i="1" dirty="0"/>
              <a:t>That helps because instead of adding a separate factor for every IMU sample, the graph only gets one compact factor per keyframe pair. So the optimization stays much smaller and faster, but we still keep most of the IMU information.</a:t>
            </a:r>
          </a:p>
        </p:txBody>
      </p:sp>
    </p:spTree>
    <p:extLst>
      <p:ext uri="{BB962C8B-B14F-4D97-AF65-F5344CB8AC3E}">
        <p14:creationId xmlns:p14="http://schemas.microsoft.com/office/powerpoint/2010/main" val="44850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024EE-B86C-C5E3-39F2-2D3ABC5D7B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F5C08D-DAC1-943C-80F6-42B09CA7DE25}"/>
              </a:ext>
            </a:extLst>
          </p:cNvPr>
          <p:cNvSpPr>
            <a:spLocks noGrp="1"/>
          </p:cNvSpPr>
          <p:nvPr>
            <p:ph type="title"/>
          </p:nvPr>
        </p:nvSpPr>
        <p:spPr>
          <a:xfrm>
            <a:off x="838200" y="48683"/>
            <a:ext cx="10515600" cy="1776942"/>
          </a:xfrm>
        </p:spPr>
        <p:txBody>
          <a:bodyPr>
            <a:normAutofit/>
          </a:bodyPr>
          <a:lstStyle/>
          <a:p>
            <a:r>
              <a:rPr lang="en-US" sz="2800" dirty="0"/>
              <a:t>Explain the purpose of the bias-evolution factor. Why is it not enough to add only an IMU factor between consecutive states? What modeling assumption is the bias factor capturing? [5 pts]</a:t>
            </a:r>
          </a:p>
        </p:txBody>
      </p:sp>
      <p:sp>
        <p:nvSpPr>
          <p:cNvPr id="4" name="Content Placeholder 2">
            <a:extLst>
              <a:ext uri="{FF2B5EF4-FFF2-40B4-BE49-F238E27FC236}">
                <a16:creationId xmlns:a16="http://schemas.microsoft.com/office/drawing/2014/main" id="{05994028-B14F-B7E0-6657-418CA54A3B27}"/>
              </a:ext>
            </a:extLst>
          </p:cNvPr>
          <p:cNvSpPr>
            <a:spLocks noGrp="1"/>
          </p:cNvSpPr>
          <p:nvPr>
            <p:ph idx="1"/>
          </p:nvPr>
        </p:nvSpPr>
        <p:spPr>
          <a:xfrm>
            <a:off x="838200" y="1825625"/>
            <a:ext cx="10803467" cy="4351338"/>
          </a:xfrm>
        </p:spPr>
        <p:txBody>
          <a:bodyPr>
            <a:normAutofit/>
          </a:bodyPr>
          <a:lstStyle/>
          <a:p>
            <a:pPr marL="0" indent="0">
              <a:buNone/>
            </a:pPr>
            <a:r>
              <a:rPr lang="en-US" i="1" dirty="0"/>
              <a:t>It keeps the IMU bias from changing too wildly between keyframes. It’s basically saying the bias should stay close to the previous bias, with some noise that grows with time.</a:t>
            </a:r>
          </a:p>
          <a:p>
            <a:pPr marL="0" indent="0">
              <a:buNone/>
            </a:pPr>
            <a:r>
              <a:rPr lang="en-US" i="1" dirty="0"/>
              <a:t>An IMU factor by itself only connects the motion states. It doesn’t explicitly model bias drift, so the optimizer can’t account for slow changes in the accelerometer and gyro offsets. The bias factor captures the assumption that bias changes gradually.</a:t>
            </a:r>
          </a:p>
        </p:txBody>
      </p:sp>
    </p:spTree>
    <p:extLst>
      <p:ext uri="{BB962C8B-B14F-4D97-AF65-F5344CB8AC3E}">
        <p14:creationId xmlns:p14="http://schemas.microsoft.com/office/powerpoint/2010/main" val="3849001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51D36-EB9E-B066-1BAD-0688F1A33603}"/>
              </a:ext>
            </a:extLst>
          </p:cNvPr>
          <p:cNvSpPr>
            <a:spLocks noGrp="1"/>
          </p:cNvSpPr>
          <p:nvPr>
            <p:ph type="title"/>
          </p:nvPr>
        </p:nvSpPr>
        <p:spPr>
          <a:xfrm>
            <a:off x="838200" y="111125"/>
            <a:ext cx="10515600" cy="1531407"/>
          </a:xfrm>
        </p:spPr>
        <p:txBody>
          <a:bodyPr>
            <a:normAutofit/>
          </a:bodyPr>
          <a:lstStyle/>
          <a:p>
            <a:r>
              <a:rPr lang="en-US" sz="2800" dirty="0"/>
              <a:t>Paste a screenshot of your Batch vs. ISAM2 update-time comparison. Explain how update time changes as the number of keyframes grows and connect it to the difference between the two methods. [5 pts]</a:t>
            </a:r>
          </a:p>
        </p:txBody>
      </p:sp>
      <p:sp>
        <p:nvSpPr>
          <p:cNvPr id="3" name="Content Placeholder 2">
            <a:extLst>
              <a:ext uri="{FF2B5EF4-FFF2-40B4-BE49-F238E27FC236}">
                <a16:creationId xmlns:a16="http://schemas.microsoft.com/office/drawing/2014/main" id="{341FF121-F908-E1F5-76C6-CEA0FFCE26C1}"/>
              </a:ext>
            </a:extLst>
          </p:cNvPr>
          <p:cNvSpPr>
            <a:spLocks noGrp="1"/>
          </p:cNvSpPr>
          <p:nvPr>
            <p:ph idx="1"/>
          </p:nvPr>
        </p:nvSpPr>
        <p:spPr>
          <a:xfrm>
            <a:off x="838200" y="1563158"/>
            <a:ext cx="4125686" cy="5017256"/>
          </a:xfrm>
        </p:spPr>
        <p:txBody>
          <a:bodyPr>
            <a:normAutofit/>
          </a:bodyPr>
          <a:lstStyle/>
          <a:p>
            <a:pPr marL="0" indent="0">
              <a:buNone/>
            </a:pPr>
            <a:r>
              <a:rPr lang="en-US" i="1" dirty="0"/>
              <a:t>Batch re-solves the whole graph every time a new keyframe is added, so each update gets more expensive as the graph grows. ISAM2 does incremental updates, so it only adjusts the parts of the graph that changed, which keeps per-update cost close to constant.</a:t>
            </a:r>
            <a:br>
              <a:rPr lang="en-US" sz="2400" i="1" dirty="0"/>
            </a:br>
            <a:endParaRPr lang="en-US" sz="2400" i="1" dirty="0"/>
          </a:p>
        </p:txBody>
      </p:sp>
      <p:pic>
        <p:nvPicPr>
          <p:cNvPr id="5" name="Picture 4">
            <a:extLst>
              <a:ext uri="{FF2B5EF4-FFF2-40B4-BE49-F238E27FC236}">
                <a16:creationId xmlns:a16="http://schemas.microsoft.com/office/drawing/2014/main" id="{FA58FD3C-6B90-124D-B76B-DDB90214B8C3}"/>
              </a:ext>
            </a:extLst>
          </p:cNvPr>
          <p:cNvPicPr>
            <a:picLocks noChangeAspect="1"/>
          </p:cNvPicPr>
          <p:nvPr/>
        </p:nvPicPr>
        <p:blipFill>
          <a:blip r:embed="rId2"/>
          <a:stretch>
            <a:fillRect/>
          </a:stretch>
        </p:blipFill>
        <p:spPr>
          <a:xfrm>
            <a:off x="5187043" y="2682204"/>
            <a:ext cx="6825343" cy="2240643"/>
          </a:xfrm>
          <a:prstGeom prst="rect">
            <a:avLst/>
          </a:prstGeom>
        </p:spPr>
      </p:pic>
    </p:spTree>
    <p:extLst>
      <p:ext uri="{BB962C8B-B14F-4D97-AF65-F5344CB8AC3E}">
        <p14:creationId xmlns:p14="http://schemas.microsoft.com/office/powerpoint/2010/main" val="30313504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20D1F-1B62-F1BD-9632-9AAD0CAD4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3B030F-DC72-F3A6-F3EC-C9335BA0B578}"/>
              </a:ext>
            </a:extLst>
          </p:cNvPr>
          <p:cNvSpPr>
            <a:spLocks noGrp="1"/>
          </p:cNvSpPr>
          <p:nvPr>
            <p:ph type="title"/>
          </p:nvPr>
        </p:nvSpPr>
        <p:spPr>
          <a:xfrm>
            <a:off x="838200" y="48683"/>
            <a:ext cx="10515600" cy="1776942"/>
          </a:xfrm>
        </p:spPr>
        <p:txBody>
          <a:bodyPr>
            <a:normAutofit/>
          </a:bodyPr>
          <a:lstStyle/>
          <a:p>
            <a:r>
              <a:rPr lang="en-US" sz="2800" dirty="0"/>
              <a:t>Paste a screenshot of your comparison of IMU </a:t>
            </a:r>
            <a:r>
              <a:rPr lang="en-US" sz="2800" dirty="0" err="1"/>
              <a:t>preintegration</a:t>
            </a:r>
            <a:r>
              <a:rPr lang="en-US" sz="2800" dirty="0"/>
              <a:t> usage and enter your ATE RMSEs. Explain why IMU </a:t>
            </a:r>
            <a:r>
              <a:rPr lang="en-US" sz="2800" dirty="0" err="1"/>
              <a:t>preintegration</a:t>
            </a:r>
            <a:r>
              <a:rPr lang="en-US" sz="2800" dirty="0"/>
              <a:t> can sometimes degrade performance. Discuss a few plausible causes *. [5 pts]</a:t>
            </a:r>
          </a:p>
        </p:txBody>
      </p:sp>
      <p:sp>
        <p:nvSpPr>
          <p:cNvPr id="3" name="TextBox 2">
            <a:extLst>
              <a:ext uri="{FF2B5EF4-FFF2-40B4-BE49-F238E27FC236}">
                <a16:creationId xmlns:a16="http://schemas.microsoft.com/office/drawing/2014/main" id="{FC4A03DF-A12C-6CBA-397A-1C31D0E9850C}"/>
              </a:ext>
            </a:extLst>
          </p:cNvPr>
          <p:cNvSpPr txBox="1"/>
          <p:nvPr/>
        </p:nvSpPr>
        <p:spPr>
          <a:xfrm>
            <a:off x="734222" y="6162986"/>
            <a:ext cx="11011422" cy="646331"/>
          </a:xfrm>
          <a:prstGeom prst="rect">
            <a:avLst/>
          </a:prstGeom>
          <a:noFill/>
        </p:spPr>
        <p:txBody>
          <a:bodyPr wrap="square" rtlCol="0">
            <a:spAutoFit/>
          </a:bodyPr>
          <a:lstStyle/>
          <a:p>
            <a:r>
              <a:rPr lang="en-US" dirty="0"/>
              <a:t>* Examples of such causes could include sensor time offset, incorrect noise or bias settings, bad initialization, frame or extrinsic mismatch, or integration of biased high-rate measurements.</a:t>
            </a:r>
          </a:p>
        </p:txBody>
      </p:sp>
      <p:sp>
        <p:nvSpPr>
          <p:cNvPr id="9" name="Content Placeholder 2">
            <a:extLst>
              <a:ext uri="{FF2B5EF4-FFF2-40B4-BE49-F238E27FC236}">
                <a16:creationId xmlns:a16="http://schemas.microsoft.com/office/drawing/2014/main" id="{9932BD16-1E0D-FD0B-E369-97E8D13EB903}"/>
              </a:ext>
            </a:extLst>
          </p:cNvPr>
          <p:cNvSpPr txBox="1">
            <a:spLocks/>
          </p:cNvSpPr>
          <p:nvPr/>
        </p:nvSpPr>
        <p:spPr>
          <a:xfrm>
            <a:off x="838200" y="1563157"/>
            <a:ext cx="5257800" cy="4501857"/>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400" i="1" dirty="0"/>
              <a:t>In my run the ATE RMSE was 0.181 without IMU and 0.299 with IMU </a:t>
            </a:r>
            <a:r>
              <a:rPr lang="en-US" sz="2400" i="1" dirty="0" err="1"/>
              <a:t>preintegration</a:t>
            </a:r>
            <a:r>
              <a:rPr lang="en-US" sz="2400" i="1" dirty="0"/>
              <a:t>, so </a:t>
            </a:r>
            <a:r>
              <a:rPr lang="en-US" sz="2400" i="1" dirty="0" err="1"/>
              <a:t>preintegration</a:t>
            </a:r>
            <a:r>
              <a:rPr lang="en-US" sz="2400" i="1" dirty="0"/>
              <a:t> actually made it worse in this case. That can happen for a few practical reasons: even a small timestamp mismatch between LiDAR and IMU can hurt fusion, the IMU noise/bias settings might not be tuned well, initialization (especially bias/orientation) might be off, or the IMU-LiDAR extrinsic/frame alignment could be slightly wrong. Also, since IMU is high-rate, small bias errors get integrated many times and can accumulate drift, which can pull the estimate away from the LiDAR-only solution.</a:t>
            </a:r>
            <a:endParaRPr lang="en-US" sz="2000" i="1" dirty="0"/>
          </a:p>
        </p:txBody>
      </p:sp>
      <p:pic>
        <p:nvPicPr>
          <p:cNvPr id="4" name="Picture 3">
            <a:extLst>
              <a:ext uri="{FF2B5EF4-FFF2-40B4-BE49-F238E27FC236}">
                <a16:creationId xmlns:a16="http://schemas.microsoft.com/office/drawing/2014/main" id="{3F67CB60-8FC3-9878-BF89-97F2210E6F36}"/>
              </a:ext>
            </a:extLst>
          </p:cNvPr>
          <p:cNvPicPr>
            <a:picLocks noChangeAspect="1"/>
          </p:cNvPicPr>
          <p:nvPr/>
        </p:nvPicPr>
        <p:blipFill>
          <a:blip r:embed="rId2"/>
          <a:stretch>
            <a:fillRect/>
          </a:stretch>
        </p:blipFill>
        <p:spPr>
          <a:xfrm>
            <a:off x="6369050" y="1632715"/>
            <a:ext cx="4432300" cy="4432300"/>
          </a:xfrm>
          <a:prstGeom prst="rect">
            <a:avLst/>
          </a:prstGeom>
        </p:spPr>
      </p:pic>
    </p:spTree>
    <p:extLst>
      <p:ext uri="{BB962C8B-B14F-4D97-AF65-F5344CB8AC3E}">
        <p14:creationId xmlns:p14="http://schemas.microsoft.com/office/powerpoint/2010/main" val="13513926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8258E-875E-6E24-303C-7BDB9EE654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FD1761-6B1B-DD9D-EDDE-CC648FF36213}"/>
              </a:ext>
            </a:extLst>
          </p:cNvPr>
          <p:cNvSpPr>
            <a:spLocks noGrp="1"/>
          </p:cNvSpPr>
          <p:nvPr>
            <p:ph type="title"/>
          </p:nvPr>
        </p:nvSpPr>
        <p:spPr>
          <a:xfrm>
            <a:off x="838200" y="111125"/>
            <a:ext cx="10515600" cy="1531407"/>
          </a:xfrm>
        </p:spPr>
        <p:txBody>
          <a:bodyPr>
            <a:normAutofit fontScale="90000"/>
          </a:bodyPr>
          <a:lstStyle/>
          <a:p>
            <a:r>
              <a:rPr lang="en-US" sz="2800" dirty="0"/>
              <a:t>Paste a screenshot of your point-cloud map (batch or ISAM2; do not copy the image from notebook!). Comment on what parts look consistent and any artifacts or distortions. Why might our pipeline have distortions in the map?* [5 pts]</a:t>
            </a:r>
          </a:p>
        </p:txBody>
      </p:sp>
      <p:sp>
        <p:nvSpPr>
          <p:cNvPr id="3" name="Content Placeholder 2">
            <a:extLst>
              <a:ext uri="{FF2B5EF4-FFF2-40B4-BE49-F238E27FC236}">
                <a16:creationId xmlns:a16="http://schemas.microsoft.com/office/drawing/2014/main" id="{4773AD08-6397-4F8B-3513-5231FFBDE7E5}"/>
              </a:ext>
            </a:extLst>
          </p:cNvPr>
          <p:cNvSpPr>
            <a:spLocks noGrp="1"/>
          </p:cNvSpPr>
          <p:nvPr>
            <p:ph idx="1"/>
          </p:nvPr>
        </p:nvSpPr>
        <p:spPr>
          <a:xfrm>
            <a:off x="838200" y="1563158"/>
            <a:ext cx="4978400" cy="4351338"/>
          </a:xfrm>
        </p:spPr>
        <p:txBody>
          <a:bodyPr>
            <a:normAutofit/>
          </a:bodyPr>
          <a:lstStyle/>
          <a:p>
            <a:pPr marL="0" indent="0">
              <a:buNone/>
            </a:pPr>
            <a:r>
              <a:rPr lang="en-US" i="1" dirty="0"/>
              <a:t>The main map structure looks mostly consistent, but there are outlying points and some blur/ghosting, especially around edges. Those artifacts likely come from drift. This is best described as a hybrid: mostly LiDAR-inertial odometry with some SLAM behavior, not fully globally consistent SLAM.</a:t>
            </a:r>
            <a:endParaRPr lang="en-US" sz="2400" i="1" dirty="0"/>
          </a:p>
        </p:txBody>
      </p:sp>
      <p:sp>
        <p:nvSpPr>
          <p:cNvPr id="4" name="Content Placeholder 2">
            <a:extLst>
              <a:ext uri="{FF2B5EF4-FFF2-40B4-BE49-F238E27FC236}">
                <a16:creationId xmlns:a16="http://schemas.microsoft.com/office/drawing/2014/main" id="{67553AFD-0E65-CF76-D6B2-11BAE799E06B}"/>
              </a:ext>
            </a:extLst>
          </p:cNvPr>
          <p:cNvSpPr txBox="1">
            <a:spLocks/>
          </p:cNvSpPr>
          <p:nvPr/>
        </p:nvSpPr>
        <p:spPr>
          <a:xfrm>
            <a:off x="7576456" y="5437414"/>
            <a:ext cx="3777343" cy="47708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i="1" dirty="0"/>
              <a:t>ISAM2 point-cloud</a:t>
            </a:r>
          </a:p>
        </p:txBody>
      </p:sp>
      <p:sp>
        <p:nvSpPr>
          <p:cNvPr id="5" name="TextBox 4">
            <a:extLst>
              <a:ext uri="{FF2B5EF4-FFF2-40B4-BE49-F238E27FC236}">
                <a16:creationId xmlns:a16="http://schemas.microsoft.com/office/drawing/2014/main" id="{D7D350C8-2C1A-2D65-0B55-598A86259B68}"/>
              </a:ext>
            </a:extLst>
          </p:cNvPr>
          <p:cNvSpPr txBox="1"/>
          <p:nvPr/>
        </p:nvSpPr>
        <p:spPr>
          <a:xfrm>
            <a:off x="734222" y="6162986"/>
            <a:ext cx="11011422" cy="646331"/>
          </a:xfrm>
          <a:prstGeom prst="rect">
            <a:avLst/>
          </a:prstGeom>
          <a:noFill/>
        </p:spPr>
        <p:txBody>
          <a:bodyPr wrap="square" rtlCol="0">
            <a:spAutoFit/>
          </a:bodyPr>
          <a:lstStyle/>
          <a:p>
            <a:r>
              <a:rPr lang="en-US" dirty="0"/>
              <a:t>*Reflect on the limits of calling this pipeline “SLAM.” Is it more precise to call it LiDAR-inertial odometry, SLAM, or a hybrid? Consider the presence or absence of loop closure, global consistency, and mapping behavior.</a:t>
            </a:r>
          </a:p>
        </p:txBody>
      </p:sp>
      <p:pic>
        <p:nvPicPr>
          <p:cNvPr id="6" name="Picture 5">
            <a:extLst>
              <a:ext uri="{FF2B5EF4-FFF2-40B4-BE49-F238E27FC236}">
                <a16:creationId xmlns:a16="http://schemas.microsoft.com/office/drawing/2014/main" id="{DA8D0CB1-2831-8DE8-4199-9380BC725DF7}"/>
              </a:ext>
            </a:extLst>
          </p:cNvPr>
          <p:cNvPicPr>
            <a:picLocks noChangeAspect="1"/>
          </p:cNvPicPr>
          <p:nvPr/>
        </p:nvPicPr>
        <p:blipFill>
          <a:blip r:embed="rId2"/>
          <a:stretch>
            <a:fillRect/>
          </a:stretch>
        </p:blipFill>
        <p:spPr>
          <a:xfrm>
            <a:off x="6223451" y="1451008"/>
            <a:ext cx="5409749" cy="3862161"/>
          </a:xfrm>
          <a:prstGeom prst="rect">
            <a:avLst/>
          </a:prstGeom>
        </p:spPr>
      </p:pic>
    </p:spTree>
    <p:extLst>
      <p:ext uri="{BB962C8B-B14F-4D97-AF65-F5344CB8AC3E}">
        <p14:creationId xmlns:p14="http://schemas.microsoft.com/office/powerpoint/2010/main" val="175583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030FD0-695E-5AF1-EC21-7B2EC10EE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A112FC-34B8-9350-5034-576A742227A5}"/>
              </a:ext>
            </a:extLst>
          </p:cNvPr>
          <p:cNvSpPr>
            <a:spLocks noGrp="1"/>
          </p:cNvSpPr>
          <p:nvPr>
            <p:ph type="title"/>
          </p:nvPr>
        </p:nvSpPr>
        <p:spPr>
          <a:xfrm>
            <a:off x="838200" y="251883"/>
            <a:ext cx="10515600" cy="1026583"/>
          </a:xfrm>
        </p:spPr>
        <p:txBody>
          <a:bodyPr>
            <a:normAutofit/>
          </a:bodyPr>
          <a:lstStyle/>
          <a:p>
            <a:r>
              <a:rPr lang="en-US" sz="2800" dirty="0"/>
              <a:t>In your final stitched global point-cloud map, find the </a:t>
            </a:r>
            <a:r>
              <a:rPr lang="en-US" sz="2800" b="1" dirty="0"/>
              <a:t>UCLA Bruin Bear</a:t>
            </a:r>
            <a:r>
              <a:rPr lang="en-US" sz="2800" dirty="0"/>
              <a:t> and take a screenshot! [Bonus +1 pt]</a:t>
            </a:r>
          </a:p>
        </p:txBody>
      </p:sp>
      <p:sp>
        <p:nvSpPr>
          <p:cNvPr id="6" name="Content Placeholder 2">
            <a:extLst>
              <a:ext uri="{FF2B5EF4-FFF2-40B4-BE49-F238E27FC236}">
                <a16:creationId xmlns:a16="http://schemas.microsoft.com/office/drawing/2014/main" id="{CE9B96EF-2E7F-97E4-1254-D415D1510E86}"/>
              </a:ext>
            </a:extLst>
          </p:cNvPr>
          <p:cNvSpPr txBox="1">
            <a:spLocks/>
          </p:cNvSpPr>
          <p:nvPr/>
        </p:nvSpPr>
        <p:spPr>
          <a:xfrm>
            <a:off x="838199" y="1563158"/>
            <a:ext cx="8406009"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i="1" dirty="0"/>
              <a:t>Paste screenshot here</a:t>
            </a:r>
          </a:p>
        </p:txBody>
      </p:sp>
      <p:pic>
        <p:nvPicPr>
          <p:cNvPr id="1026" name="Picture 2" descr="In 1984, the @UCLA Alumni Association celebrated its 50th anniversary by  presenting &quot;The Bruin&quot; statue, located at Bruin Plaza. It was built as the  largest bear sculpture in the USA weighing more">
            <a:extLst>
              <a:ext uri="{FF2B5EF4-FFF2-40B4-BE49-F238E27FC236}">
                <a16:creationId xmlns:a16="http://schemas.microsoft.com/office/drawing/2014/main" id="{7D9D5419-AAA1-D6AC-7579-B101E04CFA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55063" y="4121063"/>
            <a:ext cx="2736937" cy="27369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75FE37D-FACB-31C0-0E75-0F577BFB2742}"/>
              </a:ext>
            </a:extLst>
          </p:cNvPr>
          <p:cNvSpPr txBox="1"/>
          <p:nvPr/>
        </p:nvSpPr>
        <p:spPr>
          <a:xfrm>
            <a:off x="9884079" y="3751731"/>
            <a:ext cx="1878904" cy="369332"/>
          </a:xfrm>
          <a:prstGeom prst="rect">
            <a:avLst/>
          </a:prstGeom>
          <a:noFill/>
        </p:spPr>
        <p:txBody>
          <a:bodyPr wrap="square" rtlCol="0">
            <a:spAutoFit/>
          </a:bodyPr>
          <a:lstStyle/>
          <a:p>
            <a:pPr algn="ctr"/>
            <a:r>
              <a:rPr lang="en-US" u="sng" dirty="0"/>
              <a:t>Reference</a:t>
            </a:r>
          </a:p>
        </p:txBody>
      </p:sp>
    </p:spTree>
    <p:extLst>
      <p:ext uri="{BB962C8B-B14F-4D97-AF65-F5344CB8AC3E}">
        <p14:creationId xmlns:p14="http://schemas.microsoft.com/office/powerpoint/2010/main" val="8056752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210</TotalTime>
  <Words>716</Words>
  <Application>Microsoft Macintosh PowerPoint</Application>
  <PresentationFormat>Widescreen</PresentationFormat>
  <Paragraphs>23</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CS 4803/8803 P4c Reflection</vt:lpstr>
      <vt:lpstr>Explain the role of IMU preintegration in this pipeline. What information is being accumulated between LiDAR keyframes, and why is it useful instead of adding one factor per raw IMU sample? [5 pts]</vt:lpstr>
      <vt:lpstr>Explain the purpose of the bias-evolution factor. Why is it not enough to add only an IMU factor between consecutive states? What modeling assumption is the bias factor capturing? [5 pts]</vt:lpstr>
      <vt:lpstr>Paste a screenshot of your Batch vs. ISAM2 update-time comparison. Explain how update time changes as the number of keyframes grows and connect it to the difference between the two methods. [5 pts]</vt:lpstr>
      <vt:lpstr>Paste a screenshot of your comparison of IMU preintegration usage and enter your ATE RMSEs. Explain why IMU preintegration can sometimes degrade performance. Discuss a few plausible causes *. [5 pts]</vt:lpstr>
      <vt:lpstr>Paste a screenshot of your point-cloud map (batch or ISAM2; do not copy the image from notebook!). Comment on what parts look consistent and any artifacts or distortions. Why might our pipeline have distortions in the map?* [5 pts]</vt:lpstr>
      <vt:lpstr>In your final stitched global point-cloud map, find the UCLA Bruin Bear and take a screenshot! [Bonus +1 pt]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Divyam Kumar</dc:creator>
  <cp:lastModifiedBy>Ojas Mediratta</cp:lastModifiedBy>
  <cp:revision>48</cp:revision>
  <dcterms:created xsi:type="dcterms:W3CDTF">2026-01-24T09:19:25Z</dcterms:created>
  <dcterms:modified xsi:type="dcterms:W3CDTF">2026-04-24T03:43:00Z</dcterms:modified>
</cp:coreProperties>
</file>