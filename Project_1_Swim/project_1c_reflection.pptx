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79"/>
    <p:restoredTop sz="94629"/>
  </p:normalViewPr>
  <p:slideViewPr>
    <p:cSldViewPr snapToGrid="0">
      <p:cViewPr varScale="1">
        <p:scale>
          <a:sx n="198" d="100"/>
          <a:sy n="198" d="100"/>
        </p:scale>
        <p:origin x="20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43D2-BD69-6DB1-E756-F47E010F0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E1600A-0BDC-6FB7-5F32-5D6FAB04B6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F26C2-B3C9-2D53-9B25-4618C14365AA}"/>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D123ED23-A1BC-88D1-F161-4BB3D04D2B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CA91FD-075E-5D5B-5476-5F75C74439A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3707338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8DA7B-D719-F2FB-96DC-7FF848D4E8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39D6D-6535-8C4A-C2E9-06A32AB047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9046B6-E289-27D2-6A3C-3EA9BA9DE8C2}"/>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4A232D74-AC33-F5E9-904F-7CA8D10F8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A4ED7-0B04-EC71-AD6D-2271F108D064}"/>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434483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5F875-8983-706B-D540-97E08B668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8C12CD-0226-FE37-9495-A995BFDAA5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EC20D6-CB5C-C48B-278C-DE12F952E28E}"/>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0E549C80-C926-AC01-65F3-85D8A3E41B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45B6A-8362-0DED-5D51-59C43B9A821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625183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F35B2-08E3-1876-4D66-E18F2E2BD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DFFC15-743A-3F91-6070-63223962FC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9576E6-9BFE-9FC0-11AC-B895376B0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4C183C-D5B9-4113-F059-21C36B38C033}"/>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6" name="Footer Placeholder 5">
            <a:extLst>
              <a:ext uri="{FF2B5EF4-FFF2-40B4-BE49-F238E27FC236}">
                <a16:creationId xmlns:a16="http://schemas.microsoft.com/office/drawing/2014/main" id="{46C45E65-3DBD-75EC-6F47-D80A5EE2FA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FD647-2279-85FF-BB7C-772B6A33163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173915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D3D1E-1F27-984B-4588-557DE6C40A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D8BE35-2755-FD1F-556D-3172D8120C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BA2A3-41C9-C313-A557-BCC2059ADB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ED669F-B0E8-3E72-E584-4D157F6BD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60103B-D99C-4CC6-74FD-0D0BABEC98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D10524-8E7F-9B2D-9EE0-BD1185C1EAD8}"/>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8" name="Footer Placeholder 7">
            <a:extLst>
              <a:ext uri="{FF2B5EF4-FFF2-40B4-BE49-F238E27FC236}">
                <a16:creationId xmlns:a16="http://schemas.microsoft.com/office/drawing/2014/main" id="{CC7F4854-BDA9-E45B-2BAA-438A7C3EC3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BAA5BF-1F8A-3B2B-6198-1B4ACA469ABA}"/>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755830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DE7B4-8849-15FD-03A1-F1F7740E1C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251D0F-7149-BDB4-1816-403BBCF81BD3}"/>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4" name="Footer Placeholder 3">
            <a:extLst>
              <a:ext uri="{FF2B5EF4-FFF2-40B4-BE49-F238E27FC236}">
                <a16:creationId xmlns:a16="http://schemas.microsoft.com/office/drawing/2014/main" id="{CF1910DC-C069-0A1D-5C5B-7DCF0E4322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C3359-F225-718F-A4B5-E7D2A7465016}"/>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46318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A3E4D3-B04C-9E7A-D9C7-88326C188292}"/>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3" name="Footer Placeholder 2">
            <a:extLst>
              <a:ext uri="{FF2B5EF4-FFF2-40B4-BE49-F238E27FC236}">
                <a16:creationId xmlns:a16="http://schemas.microsoft.com/office/drawing/2014/main" id="{1981FD00-A0E4-8AB5-BBD9-927EDE7029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383A7F-5BE6-92DE-CABB-7408F024C163}"/>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474630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C42B-938D-D2C3-6591-D7A10405E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6085E5-F05F-44E2-1A61-CC36ECCE41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0B90A5-78F8-8164-CA69-5D58564D5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29931-C80D-DE10-C78A-2C66524DDAA9}"/>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6" name="Footer Placeholder 5">
            <a:extLst>
              <a:ext uri="{FF2B5EF4-FFF2-40B4-BE49-F238E27FC236}">
                <a16:creationId xmlns:a16="http://schemas.microsoft.com/office/drawing/2014/main" id="{35C6252F-A942-2B27-3DE8-04812156A1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B124A-9803-71FC-6A0F-C5B8217EB048}"/>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407921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B20F-0845-3626-6133-FE7E61497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40D54-B0CB-FB0E-2B3B-B8F612E415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5CD950-7CF9-B689-82C9-800E8336FD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73AAF2-A929-0B8D-8C86-72BB9CE24D31}"/>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6" name="Footer Placeholder 5">
            <a:extLst>
              <a:ext uri="{FF2B5EF4-FFF2-40B4-BE49-F238E27FC236}">
                <a16:creationId xmlns:a16="http://schemas.microsoft.com/office/drawing/2014/main" id="{A4150CEE-4973-3ED0-1B4E-7A202A743A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C7F79-A490-5568-06DE-2956135B1CEE}"/>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72543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BE3D-3EC0-83A1-1B26-E00B8736AD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AD8E2B-B852-F5E5-4087-4B88CD13B6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30E7F-61B8-71C7-8B15-1BA2F762EC9F}"/>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525398C3-D0CF-3745-1A0F-9110A0949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E2062-5F55-FB65-F525-3AA410C0AAB5}"/>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698284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2EC2B-789C-2ACB-CE0A-94F5E10179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E7C7EB-948C-72DF-F2C1-8975D76D9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CDA9B-A537-D707-D430-8508174AD3A5}"/>
              </a:ext>
            </a:extLst>
          </p:cNvPr>
          <p:cNvSpPr>
            <a:spLocks noGrp="1"/>
          </p:cNvSpPr>
          <p:nvPr>
            <p:ph type="dt" sz="half" idx="10"/>
          </p:nvPr>
        </p:nvSpPr>
        <p:spPr/>
        <p:txBody>
          <a:body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49B8A1A7-0E2C-53ED-53EB-B0433E503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353D3-6C1D-4403-B0CF-7B9191ABCD6B}"/>
              </a:ext>
            </a:extLst>
          </p:cNvPr>
          <p:cNvSpPr>
            <a:spLocks noGrp="1"/>
          </p:cNvSpPr>
          <p:nvPr>
            <p:ph type="sldNum" sz="quarter" idx="12"/>
          </p:nvPr>
        </p:nvSpPr>
        <p:spPr/>
        <p:txBody>
          <a:bodyPr/>
          <a:lstStyle/>
          <a:p>
            <a:fld id="{06E99F25-048C-49D1-A62F-02E0783F3D5A}" type="slidenum">
              <a:rPr lang="en-US" smtClean="0"/>
              <a:t>‹#›</a:t>
            </a:fld>
            <a:endParaRPr lang="en-US"/>
          </a:p>
        </p:txBody>
      </p:sp>
    </p:spTree>
    <p:extLst>
      <p:ext uri="{BB962C8B-B14F-4D97-AF65-F5344CB8AC3E}">
        <p14:creationId xmlns:p14="http://schemas.microsoft.com/office/powerpoint/2010/main" val="288751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C54262-A1BE-2C4F-3383-A4385976C0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E8B805-B01F-3893-53FA-1F8D902066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C8857-1E6D-9FDB-6770-A00FFF6C5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406C7D-96B9-4210-A821-CA0D29017C6B}" type="datetimeFigureOut">
              <a:rPr lang="en-US" smtClean="0"/>
              <a:t>2/5/26</a:t>
            </a:fld>
            <a:endParaRPr lang="en-US"/>
          </a:p>
        </p:txBody>
      </p:sp>
      <p:sp>
        <p:nvSpPr>
          <p:cNvPr id="5" name="Footer Placeholder 4">
            <a:extLst>
              <a:ext uri="{FF2B5EF4-FFF2-40B4-BE49-F238E27FC236}">
                <a16:creationId xmlns:a16="http://schemas.microsoft.com/office/drawing/2014/main" id="{13DF8A06-94A5-4778-0191-6427C0F98F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2B91BD9-A7F6-1E1D-A1F0-AABE91F67A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E99F25-048C-49D1-A62F-02E0783F3D5A}" type="slidenum">
              <a:rPr lang="en-US" smtClean="0"/>
              <a:t>‹#›</a:t>
            </a:fld>
            <a:endParaRPr lang="en-US"/>
          </a:p>
        </p:txBody>
      </p:sp>
    </p:spTree>
    <p:extLst>
      <p:ext uri="{BB962C8B-B14F-4D97-AF65-F5344CB8AC3E}">
        <p14:creationId xmlns:p14="http://schemas.microsoft.com/office/powerpoint/2010/main" val="2843600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omediratta3@gatech.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4E996-FCBC-E219-9017-65F962F1E87B}"/>
              </a:ext>
            </a:extLst>
          </p:cNvPr>
          <p:cNvSpPr>
            <a:spLocks noGrp="1"/>
          </p:cNvSpPr>
          <p:nvPr>
            <p:ph type="ctrTitle"/>
          </p:nvPr>
        </p:nvSpPr>
        <p:spPr>
          <a:xfrm>
            <a:off x="1524000" y="1769533"/>
            <a:ext cx="9144000" cy="1105430"/>
          </a:xfrm>
        </p:spPr>
        <p:txBody>
          <a:bodyPr>
            <a:normAutofit/>
          </a:bodyPr>
          <a:lstStyle/>
          <a:p>
            <a:r>
              <a:rPr lang="en-US" dirty="0"/>
              <a:t>CS 4803/8803 P1 Reflection</a:t>
            </a:r>
          </a:p>
        </p:txBody>
      </p:sp>
      <p:sp>
        <p:nvSpPr>
          <p:cNvPr id="3" name="Subtitle 2">
            <a:extLst>
              <a:ext uri="{FF2B5EF4-FFF2-40B4-BE49-F238E27FC236}">
                <a16:creationId xmlns:a16="http://schemas.microsoft.com/office/drawing/2014/main" id="{498E9311-0349-FD8A-5F59-792F3D35D5E2}"/>
              </a:ext>
            </a:extLst>
          </p:cNvPr>
          <p:cNvSpPr>
            <a:spLocks noGrp="1"/>
          </p:cNvSpPr>
          <p:nvPr>
            <p:ph type="subTitle" idx="1"/>
          </p:nvPr>
        </p:nvSpPr>
        <p:spPr>
          <a:xfrm>
            <a:off x="1524000" y="2958571"/>
            <a:ext cx="9144000" cy="1655762"/>
          </a:xfrm>
        </p:spPr>
        <p:txBody>
          <a:bodyPr>
            <a:normAutofit/>
          </a:bodyPr>
          <a:lstStyle/>
          <a:p>
            <a:r>
              <a:rPr lang="en-US" sz="2800" dirty="0"/>
              <a:t>Ojas </a:t>
            </a:r>
            <a:r>
              <a:rPr lang="en-US" sz="2800" dirty="0" err="1"/>
              <a:t>Mediratta</a:t>
            </a:r>
            <a:endParaRPr lang="en-US" sz="2800" dirty="0"/>
          </a:p>
          <a:p>
            <a:r>
              <a:rPr lang="en-US" sz="2800" dirty="0">
                <a:hlinkClick r:id="rId2"/>
              </a:rPr>
              <a:t>omediratta3@gatech.edu</a:t>
            </a:r>
            <a:endParaRPr lang="en-US" sz="2800" dirty="0"/>
          </a:p>
          <a:p>
            <a:r>
              <a:rPr lang="en-US" sz="2800" dirty="0"/>
              <a:t>903678112</a:t>
            </a:r>
          </a:p>
        </p:txBody>
      </p:sp>
      <p:sp>
        <p:nvSpPr>
          <p:cNvPr id="4" name="Subtitle 2">
            <a:extLst>
              <a:ext uri="{FF2B5EF4-FFF2-40B4-BE49-F238E27FC236}">
                <a16:creationId xmlns:a16="http://schemas.microsoft.com/office/drawing/2014/main" id="{E6F89707-D23C-D080-96D2-5BCA4BD51F89}"/>
              </a:ext>
            </a:extLst>
          </p:cNvPr>
          <p:cNvSpPr txBox="1">
            <a:spLocks/>
          </p:cNvSpPr>
          <p:nvPr/>
        </p:nvSpPr>
        <p:spPr>
          <a:xfrm>
            <a:off x="850900" y="5015973"/>
            <a:ext cx="10490200" cy="5635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Provide your answer on the appropriate slide. Do not delete or add new slides.</a:t>
            </a:r>
            <a:endParaRPr lang="en-US" sz="2000" dirty="0"/>
          </a:p>
        </p:txBody>
      </p:sp>
    </p:spTree>
    <p:extLst>
      <p:ext uri="{BB962C8B-B14F-4D97-AF65-F5344CB8AC3E}">
        <p14:creationId xmlns:p14="http://schemas.microsoft.com/office/powerpoint/2010/main" val="3651844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1D36-EB9E-B066-1BAD-0688F1A33603}"/>
              </a:ext>
            </a:extLst>
          </p:cNvPr>
          <p:cNvSpPr>
            <a:spLocks noGrp="1"/>
          </p:cNvSpPr>
          <p:nvPr>
            <p:ph type="title"/>
          </p:nvPr>
        </p:nvSpPr>
        <p:spPr>
          <a:xfrm>
            <a:off x="838200" y="111125"/>
            <a:ext cx="10515600" cy="1531407"/>
          </a:xfrm>
        </p:spPr>
        <p:txBody>
          <a:bodyPr>
            <a:normAutofit/>
          </a:bodyPr>
          <a:lstStyle/>
          <a:p>
            <a:r>
              <a:rPr lang="en-US" sz="2800" dirty="0"/>
              <a:t>Why does the power series expansion for the exponential map converge faster than the “compound interest” approximation? [5 pts]</a:t>
            </a:r>
          </a:p>
        </p:txBody>
      </p:sp>
      <p:sp>
        <p:nvSpPr>
          <p:cNvPr id="3" name="Content Placeholder 2">
            <a:extLst>
              <a:ext uri="{FF2B5EF4-FFF2-40B4-BE49-F238E27FC236}">
                <a16:creationId xmlns:a16="http://schemas.microsoft.com/office/drawing/2014/main" id="{341FF121-F908-E1F5-76C6-CEA0FFCE26C1}"/>
              </a:ext>
            </a:extLst>
          </p:cNvPr>
          <p:cNvSpPr>
            <a:spLocks noGrp="1"/>
          </p:cNvSpPr>
          <p:nvPr>
            <p:ph idx="1"/>
          </p:nvPr>
        </p:nvSpPr>
        <p:spPr/>
        <p:txBody>
          <a:bodyPr>
            <a:normAutofit/>
          </a:bodyPr>
          <a:lstStyle/>
          <a:p>
            <a:pPr marL="0" indent="0">
              <a:buNone/>
            </a:pPr>
            <a:r>
              <a:rPr lang="en-US" sz="2400" i="1" dirty="0"/>
              <a:t>The compound interest approximation is applying an approximation with a first-order integrator locally, which has an error that accumulates each time it’s applied. The power series expansion is better since it’s essentially fitting the curve’s shape directly (where the compound interest is basically approximating the curve with short straight segments), and the error is controlled by the (k+1)! Term. </a:t>
            </a:r>
          </a:p>
        </p:txBody>
      </p:sp>
    </p:spTree>
    <p:extLst>
      <p:ext uri="{BB962C8B-B14F-4D97-AF65-F5344CB8AC3E}">
        <p14:creationId xmlns:p14="http://schemas.microsoft.com/office/powerpoint/2010/main" val="3031350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FA781-8DBF-9A78-D99D-13A4E79F7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ED671-FA1C-B23A-DAE2-B9152A013DBE}"/>
              </a:ext>
            </a:extLst>
          </p:cNvPr>
          <p:cNvSpPr>
            <a:spLocks noGrp="1"/>
          </p:cNvSpPr>
          <p:nvPr>
            <p:ph type="title"/>
          </p:nvPr>
        </p:nvSpPr>
        <p:spPr>
          <a:xfrm>
            <a:off x="838200" y="111125"/>
            <a:ext cx="10515600" cy="1776942"/>
          </a:xfrm>
        </p:spPr>
        <p:txBody>
          <a:bodyPr>
            <a:normAutofit/>
          </a:bodyPr>
          <a:lstStyle/>
          <a:p>
            <a:r>
              <a:rPr lang="en-US" sz="2800" dirty="0"/>
              <a:t>Choose a keyboard-based action. Explain why the robot moves the way it does and refer to a screenshot of the position graph taken using the “P” key. [5 pts]</a:t>
            </a:r>
          </a:p>
        </p:txBody>
      </p:sp>
      <p:sp>
        <p:nvSpPr>
          <p:cNvPr id="4" name="Content Placeholder 2">
            <a:extLst>
              <a:ext uri="{FF2B5EF4-FFF2-40B4-BE49-F238E27FC236}">
                <a16:creationId xmlns:a16="http://schemas.microsoft.com/office/drawing/2014/main" id="{B2AB2FA6-A39A-64AB-88E4-6B726E6EB46A}"/>
              </a:ext>
            </a:extLst>
          </p:cNvPr>
          <p:cNvSpPr>
            <a:spLocks noGrp="1"/>
          </p:cNvSpPr>
          <p:nvPr>
            <p:ph idx="1"/>
          </p:nvPr>
        </p:nvSpPr>
        <p:spPr>
          <a:xfrm>
            <a:off x="838201" y="1825625"/>
            <a:ext cx="4408448" cy="4351338"/>
          </a:xfrm>
        </p:spPr>
        <p:txBody>
          <a:bodyPr>
            <a:noAutofit/>
          </a:bodyPr>
          <a:lstStyle/>
          <a:p>
            <a:pPr marL="0" indent="0">
              <a:buNone/>
            </a:pPr>
            <a:r>
              <a:rPr lang="en-US" sz="2400" i="1" dirty="0"/>
              <a:t>The keyboard based action I selected was using the up and down arrow keys. These keys apply a force of 1.0 N in the robot's body frame X direction (forward/backward). Since the robot's body X axis is aligned with the world Y axis, the forward thrust causes the robot to move in the Y direction in world coordinates, shown in the graph.</a:t>
            </a:r>
          </a:p>
        </p:txBody>
      </p:sp>
      <p:pic>
        <p:nvPicPr>
          <p:cNvPr id="3" name="Picture 2">
            <a:extLst>
              <a:ext uri="{FF2B5EF4-FFF2-40B4-BE49-F238E27FC236}">
                <a16:creationId xmlns:a16="http://schemas.microsoft.com/office/drawing/2014/main" id="{D17C6801-FB64-A265-2FD4-75BF47BC0944}"/>
              </a:ext>
            </a:extLst>
          </p:cNvPr>
          <p:cNvPicPr>
            <a:picLocks noChangeAspect="1"/>
          </p:cNvPicPr>
          <p:nvPr/>
        </p:nvPicPr>
        <p:blipFill>
          <a:blip r:embed="rId2"/>
          <a:srcRect t="972"/>
          <a:stretch>
            <a:fillRect/>
          </a:stretch>
        </p:blipFill>
        <p:spPr>
          <a:xfrm>
            <a:off x="5338476" y="2499915"/>
            <a:ext cx="3213754" cy="3065199"/>
          </a:xfrm>
          <a:prstGeom prst="rect">
            <a:avLst/>
          </a:prstGeom>
        </p:spPr>
      </p:pic>
      <p:sp>
        <p:nvSpPr>
          <p:cNvPr id="6" name="TextBox 5">
            <a:extLst>
              <a:ext uri="{FF2B5EF4-FFF2-40B4-BE49-F238E27FC236}">
                <a16:creationId xmlns:a16="http://schemas.microsoft.com/office/drawing/2014/main" id="{4F62AB3B-FC83-078A-7923-EF542571B275}"/>
              </a:ext>
            </a:extLst>
          </p:cNvPr>
          <p:cNvSpPr txBox="1"/>
          <p:nvPr/>
        </p:nvSpPr>
        <p:spPr>
          <a:xfrm>
            <a:off x="6268845" y="5992296"/>
            <a:ext cx="1353015" cy="369332"/>
          </a:xfrm>
          <a:prstGeom prst="rect">
            <a:avLst/>
          </a:prstGeom>
          <a:noFill/>
        </p:spPr>
        <p:txBody>
          <a:bodyPr wrap="square" rtlCol="0">
            <a:spAutoFit/>
          </a:bodyPr>
          <a:lstStyle/>
          <a:p>
            <a:pPr algn="ctr"/>
            <a:r>
              <a:rPr lang="en-US" dirty="0"/>
              <a:t>Before </a:t>
            </a:r>
          </a:p>
        </p:txBody>
      </p:sp>
      <p:pic>
        <p:nvPicPr>
          <p:cNvPr id="7" name="Picture 6">
            <a:extLst>
              <a:ext uri="{FF2B5EF4-FFF2-40B4-BE49-F238E27FC236}">
                <a16:creationId xmlns:a16="http://schemas.microsoft.com/office/drawing/2014/main" id="{70A72CBD-90A7-0838-3CD6-C7E3ADA06993}"/>
              </a:ext>
            </a:extLst>
          </p:cNvPr>
          <p:cNvPicPr>
            <a:picLocks noChangeAspect="1"/>
          </p:cNvPicPr>
          <p:nvPr/>
        </p:nvPicPr>
        <p:blipFill>
          <a:blip r:embed="rId3">
            <a:extLst>
              <a:ext uri="{28A0092B-C50C-407E-A947-70E740481C1C}">
                <a14:useLocalDpi xmlns:a14="http://schemas.microsoft.com/office/drawing/2010/main" val="0"/>
              </a:ext>
            </a:extLst>
          </a:blip>
          <a:srcRect t="486" b="486"/>
          <a:stretch/>
        </p:blipFill>
        <p:spPr>
          <a:xfrm>
            <a:off x="8568958" y="2451083"/>
            <a:ext cx="3213754" cy="3065199"/>
          </a:xfrm>
          <a:prstGeom prst="rect">
            <a:avLst/>
          </a:prstGeom>
        </p:spPr>
      </p:pic>
      <p:sp>
        <p:nvSpPr>
          <p:cNvPr id="8" name="TextBox 7">
            <a:extLst>
              <a:ext uri="{FF2B5EF4-FFF2-40B4-BE49-F238E27FC236}">
                <a16:creationId xmlns:a16="http://schemas.microsoft.com/office/drawing/2014/main" id="{9B70F7BB-1FF7-157D-1609-4BDB9DFD5A9A}"/>
              </a:ext>
            </a:extLst>
          </p:cNvPr>
          <p:cNvSpPr txBox="1"/>
          <p:nvPr/>
        </p:nvSpPr>
        <p:spPr>
          <a:xfrm>
            <a:off x="9499327" y="5943464"/>
            <a:ext cx="1353015" cy="369332"/>
          </a:xfrm>
          <a:prstGeom prst="rect">
            <a:avLst/>
          </a:prstGeom>
          <a:noFill/>
        </p:spPr>
        <p:txBody>
          <a:bodyPr wrap="square" rtlCol="0">
            <a:spAutoFit/>
          </a:bodyPr>
          <a:lstStyle/>
          <a:p>
            <a:pPr algn="ctr"/>
            <a:r>
              <a:rPr lang="en-US" dirty="0"/>
              <a:t>After</a:t>
            </a:r>
          </a:p>
        </p:txBody>
      </p:sp>
    </p:spTree>
    <p:extLst>
      <p:ext uri="{BB962C8B-B14F-4D97-AF65-F5344CB8AC3E}">
        <p14:creationId xmlns:p14="http://schemas.microsoft.com/office/powerpoint/2010/main" val="20713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ABCC-35BB-2714-C065-B9625D2EC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F19BF-F63E-7B07-9E9D-D4518EC37660}"/>
              </a:ext>
            </a:extLst>
          </p:cNvPr>
          <p:cNvSpPr>
            <a:spLocks noGrp="1"/>
          </p:cNvSpPr>
          <p:nvPr>
            <p:ph type="title"/>
          </p:nvPr>
        </p:nvSpPr>
        <p:spPr>
          <a:xfrm>
            <a:off x="838200" y="48683"/>
            <a:ext cx="10515600" cy="1776942"/>
          </a:xfrm>
        </p:spPr>
        <p:txBody>
          <a:bodyPr>
            <a:normAutofit/>
          </a:bodyPr>
          <a:lstStyle/>
          <a:p>
            <a:r>
              <a:rPr lang="en-US" sz="2800" dirty="0"/>
              <a:t>Discuss the effect of changing the IMU noise parameters. How does your change impact the trajectory tracking performance? Provide a screenshot of the trajectory plot using key “T”. [5 pts]</a:t>
            </a:r>
          </a:p>
        </p:txBody>
      </p:sp>
      <p:sp>
        <p:nvSpPr>
          <p:cNvPr id="4" name="Content Placeholder 2">
            <a:extLst>
              <a:ext uri="{FF2B5EF4-FFF2-40B4-BE49-F238E27FC236}">
                <a16:creationId xmlns:a16="http://schemas.microsoft.com/office/drawing/2014/main" id="{C0E76564-0423-5040-6D04-C9217CDF9A77}"/>
              </a:ext>
            </a:extLst>
          </p:cNvPr>
          <p:cNvSpPr>
            <a:spLocks noGrp="1"/>
          </p:cNvSpPr>
          <p:nvPr>
            <p:ph idx="1"/>
          </p:nvPr>
        </p:nvSpPr>
        <p:spPr>
          <a:xfrm>
            <a:off x="838200" y="1825625"/>
            <a:ext cx="4986867" cy="4351338"/>
          </a:xfrm>
        </p:spPr>
        <p:txBody>
          <a:bodyPr>
            <a:normAutofit fontScale="92500" lnSpcReduction="20000"/>
          </a:bodyPr>
          <a:lstStyle/>
          <a:p>
            <a:pPr marL="0" indent="0">
              <a:buNone/>
            </a:pPr>
            <a:r>
              <a:rPr lang="en-US" sz="2400" i="1" dirty="0"/>
              <a:t>I increased the IMU noise parameters from SIGMA_ACC = 0.004 and SIGMA_GYRO = 00.5 to SIGMA_ACC = 0.04 and SIGMA_GYRO = 0.5 (10x the original values). Interestingly, this change seemed to slightly improve trajectory tracking performance in the simulation, though the change isn’t as apparent in the plot. By increasing these values, the EKF trusts the IMU predictions less and weights the range and depth measurements more heavily during updates. This results in more accurate state estimates when the external sensors are more reliable than the IMU, which means tighter trajectory following with less deviation from the desired path.</a:t>
            </a:r>
          </a:p>
        </p:txBody>
      </p:sp>
      <p:sp>
        <p:nvSpPr>
          <p:cNvPr id="5" name="Content Placeholder 2">
            <a:extLst>
              <a:ext uri="{FF2B5EF4-FFF2-40B4-BE49-F238E27FC236}">
                <a16:creationId xmlns:a16="http://schemas.microsoft.com/office/drawing/2014/main" id="{D65EBF45-CAC7-AD23-439F-9711BD2F91AD}"/>
              </a:ext>
            </a:extLst>
          </p:cNvPr>
          <p:cNvSpPr txBox="1">
            <a:spLocks/>
          </p:cNvSpPr>
          <p:nvPr/>
        </p:nvSpPr>
        <p:spPr>
          <a:xfrm>
            <a:off x="6172200" y="1825625"/>
            <a:ext cx="49868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i="1" dirty="0"/>
          </a:p>
        </p:txBody>
      </p:sp>
      <p:pic>
        <p:nvPicPr>
          <p:cNvPr id="3" name="Picture 2">
            <a:extLst>
              <a:ext uri="{FF2B5EF4-FFF2-40B4-BE49-F238E27FC236}">
                <a16:creationId xmlns:a16="http://schemas.microsoft.com/office/drawing/2014/main" id="{E615C42B-5405-EE1D-3EAD-18CD006FA521}"/>
              </a:ext>
            </a:extLst>
          </p:cNvPr>
          <p:cNvPicPr>
            <a:picLocks noChangeAspect="1"/>
          </p:cNvPicPr>
          <p:nvPr/>
        </p:nvPicPr>
        <p:blipFill>
          <a:blip r:embed="rId2"/>
          <a:stretch>
            <a:fillRect/>
          </a:stretch>
        </p:blipFill>
        <p:spPr>
          <a:xfrm>
            <a:off x="5825067" y="1645610"/>
            <a:ext cx="3350101" cy="2105695"/>
          </a:xfrm>
          <a:prstGeom prst="rect">
            <a:avLst/>
          </a:prstGeom>
        </p:spPr>
      </p:pic>
      <p:sp>
        <p:nvSpPr>
          <p:cNvPr id="6" name="TextBox 5">
            <a:extLst>
              <a:ext uri="{FF2B5EF4-FFF2-40B4-BE49-F238E27FC236}">
                <a16:creationId xmlns:a16="http://schemas.microsoft.com/office/drawing/2014/main" id="{9F0CB726-71D5-D678-F094-0276ABA0BB1C}"/>
              </a:ext>
            </a:extLst>
          </p:cNvPr>
          <p:cNvSpPr txBox="1"/>
          <p:nvPr/>
        </p:nvSpPr>
        <p:spPr>
          <a:xfrm>
            <a:off x="9175167" y="2505771"/>
            <a:ext cx="2794716" cy="461665"/>
          </a:xfrm>
          <a:prstGeom prst="rect">
            <a:avLst/>
          </a:prstGeom>
          <a:noFill/>
        </p:spPr>
        <p:txBody>
          <a:bodyPr wrap="square" rtlCol="0">
            <a:spAutoFit/>
          </a:bodyPr>
          <a:lstStyle/>
          <a:p>
            <a:pPr algn="ctr"/>
            <a:r>
              <a:rPr lang="en-US" sz="1200" i="1" dirty="0"/>
              <a:t>With SIGMA_ACC = 0.004 and SIGMA_GYRO = 0.05</a:t>
            </a:r>
          </a:p>
        </p:txBody>
      </p:sp>
      <p:pic>
        <p:nvPicPr>
          <p:cNvPr id="7" name="Picture 6">
            <a:extLst>
              <a:ext uri="{FF2B5EF4-FFF2-40B4-BE49-F238E27FC236}">
                <a16:creationId xmlns:a16="http://schemas.microsoft.com/office/drawing/2014/main" id="{76C2B064-63E7-3B1C-15D3-B1F0607896E1}"/>
              </a:ext>
            </a:extLst>
          </p:cNvPr>
          <p:cNvPicPr>
            <a:picLocks noChangeAspect="1"/>
          </p:cNvPicPr>
          <p:nvPr/>
        </p:nvPicPr>
        <p:blipFill>
          <a:blip r:embed="rId3"/>
          <a:stretch>
            <a:fillRect/>
          </a:stretch>
        </p:blipFill>
        <p:spPr>
          <a:xfrm>
            <a:off x="5764676" y="4299035"/>
            <a:ext cx="3818016" cy="2399802"/>
          </a:xfrm>
          <a:prstGeom prst="rect">
            <a:avLst/>
          </a:prstGeom>
        </p:spPr>
      </p:pic>
      <p:sp>
        <p:nvSpPr>
          <p:cNvPr id="8" name="TextBox 7">
            <a:extLst>
              <a:ext uri="{FF2B5EF4-FFF2-40B4-BE49-F238E27FC236}">
                <a16:creationId xmlns:a16="http://schemas.microsoft.com/office/drawing/2014/main" id="{84485204-8109-8316-7465-2181A51725F2}"/>
              </a:ext>
            </a:extLst>
          </p:cNvPr>
          <p:cNvSpPr txBox="1"/>
          <p:nvPr/>
        </p:nvSpPr>
        <p:spPr>
          <a:xfrm>
            <a:off x="9175167" y="4979181"/>
            <a:ext cx="2794716" cy="461665"/>
          </a:xfrm>
          <a:prstGeom prst="rect">
            <a:avLst/>
          </a:prstGeom>
          <a:noFill/>
        </p:spPr>
        <p:txBody>
          <a:bodyPr wrap="square" rtlCol="0">
            <a:spAutoFit/>
          </a:bodyPr>
          <a:lstStyle/>
          <a:p>
            <a:pPr algn="ctr"/>
            <a:r>
              <a:rPr lang="en-US" sz="1200" i="1" dirty="0"/>
              <a:t>With SIGMA_ACC = 0.04 and SIGMA_GYRO = 0.5</a:t>
            </a:r>
          </a:p>
        </p:txBody>
      </p:sp>
    </p:spTree>
    <p:extLst>
      <p:ext uri="{BB962C8B-B14F-4D97-AF65-F5344CB8AC3E}">
        <p14:creationId xmlns:p14="http://schemas.microsoft.com/office/powerpoint/2010/main" val="1711889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EA461-C754-EE79-9BCD-A5EDC0C7A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DC4F5-45BA-F549-A864-6E96FEEB32F0}"/>
              </a:ext>
            </a:extLst>
          </p:cNvPr>
          <p:cNvSpPr>
            <a:spLocks noGrp="1"/>
          </p:cNvSpPr>
          <p:nvPr>
            <p:ph type="title"/>
          </p:nvPr>
        </p:nvSpPr>
        <p:spPr>
          <a:xfrm>
            <a:off x="838200" y="48683"/>
            <a:ext cx="10515600" cy="1776942"/>
          </a:xfrm>
        </p:spPr>
        <p:txBody>
          <a:bodyPr>
            <a:normAutofit/>
          </a:bodyPr>
          <a:lstStyle/>
          <a:p>
            <a:r>
              <a:rPr lang="en-US" sz="2800" dirty="0"/>
              <a:t>Explain in terms of the EKF the trajectory tracking performance of the robot using the default IMU noise parameters. Provide a screenshot of the trajectory plot using key “T”. [5 pts]</a:t>
            </a:r>
          </a:p>
        </p:txBody>
      </p:sp>
      <p:sp>
        <p:nvSpPr>
          <p:cNvPr id="4" name="Content Placeholder 2">
            <a:extLst>
              <a:ext uri="{FF2B5EF4-FFF2-40B4-BE49-F238E27FC236}">
                <a16:creationId xmlns:a16="http://schemas.microsoft.com/office/drawing/2014/main" id="{D78BA74D-1E74-ECBA-1D41-EC6E7B61A5D3}"/>
              </a:ext>
            </a:extLst>
          </p:cNvPr>
          <p:cNvSpPr>
            <a:spLocks noGrp="1"/>
          </p:cNvSpPr>
          <p:nvPr>
            <p:ph idx="1"/>
          </p:nvPr>
        </p:nvSpPr>
        <p:spPr>
          <a:xfrm>
            <a:off x="838200" y="1825625"/>
            <a:ext cx="4986867" cy="4351338"/>
          </a:xfrm>
        </p:spPr>
        <p:txBody>
          <a:bodyPr>
            <a:normAutofit fontScale="92500" lnSpcReduction="10000"/>
          </a:bodyPr>
          <a:lstStyle/>
          <a:p>
            <a:pPr marL="0" indent="0">
              <a:buNone/>
            </a:pPr>
            <a:r>
              <a:rPr lang="en-US" sz="2400" i="1" dirty="0"/>
              <a:t>With the default IMU noise parameters (SIGMA_ACC = 0.004, SIGMA_GYRO = 0.05), the EKF trusts the IMU predictions heavily due to the low process noise covariances. During prediction, the filter propagates state using IMU measurements. The update step corrects this using the depth and range measurements. This produces pretty smooth trajectory following but with noticeable drift/deviation from the desired path. The tracking controller directly uses these EKF estimates, so any estimation drift translates to tracking error.</a:t>
            </a:r>
          </a:p>
        </p:txBody>
      </p:sp>
      <p:pic>
        <p:nvPicPr>
          <p:cNvPr id="3" name="Picture 2">
            <a:extLst>
              <a:ext uri="{FF2B5EF4-FFF2-40B4-BE49-F238E27FC236}">
                <a16:creationId xmlns:a16="http://schemas.microsoft.com/office/drawing/2014/main" id="{7F865C66-462E-10C8-1118-17402E39517E}"/>
              </a:ext>
            </a:extLst>
          </p:cNvPr>
          <p:cNvPicPr>
            <a:picLocks noChangeAspect="1"/>
          </p:cNvPicPr>
          <p:nvPr/>
        </p:nvPicPr>
        <p:blipFill>
          <a:blip r:embed="rId2"/>
          <a:stretch>
            <a:fillRect/>
          </a:stretch>
        </p:blipFill>
        <p:spPr>
          <a:xfrm>
            <a:off x="6096000" y="2032000"/>
            <a:ext cx="5536819" cy="3480150"/>
          </a:xfrm>
          <a:prstGeom prst="rect">
            <a:avLst/>
          </a:prstGeom>
        </p:spPr>
      </p:pic>
    </p:spTree>
    <p:extLst>
      <p:ext uri="{BB962C8B-B14F-4D97-AF65-F5344CB8AC3E}">
        <p14:creationId xmlns:p14="http://schemas.microsoft.com/office/powerpoint/2010/main" val="389372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784DD-A991-31DD-328A-47F5E57D7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D3A99-26C4-7A46-6D30-4F665A3C211D}"/>
              </a:ext>
            </a:extLst>
          </p:cNvPr>
          <p:cNvSpPr>
            <a:spLocks noGrp="1"/>
          </p:cNvSpPr>
          <p:nvPr>
            <p:ph type="title"/>
          </p:nvPr>
        </p:nvSpPr>
        <p:spPr>
          <a:xfrm>
            <a:off x="838200" y="48683"/>
            <a:ext cx="10515600" cy="1924050"/>
          </a:xfrm>
        </p:spPr>
        <p:txBody>
          <a:bodyPr>
            <a:normAutofit/>
          </a:bodyPr>
          <a:lstStyle/>
          <a:p>
            <a:r>
              <a:rPr lang="en-US" sz="2800" dirty="0"/>
              <a:t>On line 81 of the ROV_Controller.py file, change the variable “X_true” to “X_est”. How does this impact the trajectory tracking performance? Provide a screenshot of the trajectory plot using key “T”. [5 pts]</a:t>
            </a:r>
          </a:p>
        </p:txBody>
      </p:sp>
      <p:sp>
        <p:nvSpPr>
          <p:cNvPr id="4" name="Content Placeholder 2">
            <a:extLst>
              <a:ext uri="{FF2B5EF4-FFF2-40B4-BE49-F238E27FC236}">
                <a16:creationId xmlns:a16="http://schemas.microsoft.com/office/drawing/2014/main" id="{DB214775-CC7D-3459-C9E2-23BE244C117E}"/>
              </a:ext>
            </a:extLst>
          </p:cNvPr>
          <p:cNvSpPr>
            <a:spLocks noGrp="1"/>
          </p:cNvSpPr>
          <p:nvPr>
            <p:ph idx="1"/>
          </p:nvPr>
        </p:nvSpPr>
        <p:spPr>
          <a:xfrm>
            <a:off x="838200" y="1972733"/>
            <a:ext cx="4986867" cy="4351338"/>
          </a:xfrm>
        </p:spPr>
        <p:txBody>
          <a:bodyPr>
            <a:normAutofit/>
          </a:bodyPr>
          <a:lstStyle/>
          <a:p>
            <a:pPr marL="0" indent="0">
              <a:buNone/>
            </a:pPr>
            <a:r>
              <a:rPr lang="en-US" sz="2400" i="1" dirty="0"/>
              <a:t>The trajectory tracking performance got completely messed up. Changing it causes the trajectory controller to use the EKF's estimated state instead of ground truth. This data is noisy and the error accumulates. The plot shows the robot going entirely off course (my robot crashed into the side of the world). Having the Kalman Filter implemented properly for closed loop control is very important.</a:t>
            </a:r>
          </a:p>
        </p:txBody>
      </p:sp>
      <p:pic>
        <p:nvPicPr>
          <p:cNvPr id="3" name="Picture 2">
            <a:extLst>
              <a:ext uri="{FF2B5EF4-FFF2-40B4-BE49-F238E27FC236}">
                <a16:creationId xmlns:a16="http://schemas.microsoft.com/office/drawing/2014/main" id="{3B5BE838-D8E5-EB44-740C-276EEBF1B2BD}"/>
              </a:ext>
            </a:extLst>
          </p:cNvPr>
          <p:cNvPicPr>
            <a:picLocks noChangeAspect="1"/>
          </p:cNvPicPr>
          <p:nvPr/>
        </p:nvPicPr>
        <p:blipFill>
          <a:blip r:embed="rId2"/>
          <a:stretch>
            <a:fillRect/>
          </a:stretch>
        </p:blipFill>
        <p:spPr>
          <a:xfrm>
            <a:off x="5825067" y="2307028"/>
            <a:ext cx="5058508" cy="3179509"/>
          </a:xfrm>
          <a:prstGeom prst="rect">
            <a:avLst/>
          </a:prstGeom>
        </p:spPr>
      </p:pic>
    </p:spTree>
    <p:extLst>
      <p:ext uri="{BB962C8B-B14F-4D97-AF65-F5344CB8AC3E}">
        <p14:creationId xmlns:p14="http://schemas.microsoft.com/office/powerpoint/2010/main" val="2322695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BC7B-8470-C352-7977-554B72E7C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CE732-BB23-7FBC-9760-F3BEACA64F3B}"/>
              </a:ext>
            </a:extLst>
          </p:cNvPr>
          <p:cNvSpPr>
            <a:spLocks noGrp="1"/>
          </p:cNvSpPr>
          <p:nvPr>
            <p:ph type="title"/>
          </p:nvPr>
        </p:nvSpPr>
        <p:spPr>
          <a:xfrm>
            <a:off x="838200" y="48683"/>
            <a:ext cx="10515600" cy="1776942"/>
          </a:xfrm>
        </p:spPr>
        <p:txBody>
          <a:bodyPr>
            <a:normAutofit/>
          </a:bodyPr>
          <a:lstStyle/>
          <a:p>
            <a:r>
              <a:rPr lang="en-US" sz="2800" dirty="0"/>
              <a:t>What did you learn in this module that most surprised you? [0 pts]</a:t>
            </a:r>
          </a:p>
        </p:txBody>
      </p:sp>
      <p:sp>
        <p:nvSpPr>
          <p:cNvPr id="4" name="Content Placeholder 2">
            <a:extLst>
              <a:ext uri="{FF2B5EF4-FFF2-40B4-BE49-F238E27FC236}">
                <a16:creationId xmlns:a16="http://schemas.microsoft.com/office/drawing/2014/main" id="{B5F20051-2ABB-CC49-EA52-7580EFFDEFD8}"/>
              </a:ext>
            </a:extLst>
          </p:cNvPr>
          <p:cNvSpPr>
            <a:spLocks noGrp="1"/>
          </p:cNvSpPr>
          <p:nvPr>
            <p:ph idx="1"/>
          </p:nvPr>
        </p:nvSpPr>
        <p:spPr>
          <a:xfrm>
            <a:off x="838200" y="1825625"/>
            <a:ext cx="10515600" cy="4351338"/>
          </a:xfrm>
        </p:spPr>
        <p:txBody>
          <a:bodyPr>
            <a:normAutofit/>
          </a:bodyPr>
          <a:lstStyle/>
          <a:p>
            <a:pPr marL="0" indent="0">
              <a:buNone/>
            </a:pPr>
            <a:r>
              <a:rPr lang="en-US" sz="2400" i="1" dirty="0"/>
              <a:t>I was surprised by the complexity of implementing an EKF in practice. Beyond the basic predict-update cycle, constructing measurement Jacobians H for each sensor type took me a really long time and making sure everything worked. I thought the </a:t>
            </a:r>
            <a:r>
              <a:rPr lang="en-US" sz="2400" i="1"/>
              <a:t>math would </a:t>
            </a:r>
            <a:r>
              <a:rPr lang="en-US" sz="2400" i="1" dirty="0"/>
              <a:t>be more straightforward.</a:t>
            </a:r>
          </a:p>
        </p:txBody>
      </p:sp>
    </p:spTree>
    <p:extLst>
      <p:ext uri="{BB962C8B-B14F-4D97-AF65-F5344CB8AC3E}">
        <p14:creationId xmlns:p14="http://schemas.microsoft.com/office/powerpoint/2010/main" val="2582068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715</Words>
  <Application>Microsoft Macintosh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CS 4803/8803 P1 Reflection</vt:lpstr>
      <vt:lpstr>Why does the power series expansion for the exponential map converge faster than the “compound interest” approximation? [5 pts]</vt:lpstr>
      <vt:lpstr>Choose a keyboard-based action. Explain why the robot moves the way it does and refer to a screenshot of the position graph taken using the “P” key. [5 pts]</vt:lpstr>
      <vt:lpstr>Discuss the effect of changing the IMU noise parameters. How does your change impact the trajectory tracking performance? Provide a screenshot of the trajectory plot using key “T”. [5 pts]</vt:lpstr>
      <vt:lpstr>Explain in terms of the EKF the trajectory tracking performance of the robot using the default IMU noise parameters. Provide a screenshot of the trajectory plot using key “T”. [5 pts]</vt:lpstr>
      <vt:lpstr>On line 81 of the ROV_Controller.py file, change the variable “X_true” to “X_est”. How does this impact the trajectory tracking performance? Provide a screenshot of the trajectory plot using key “T”. [5 pts]</vt:lpstr>
      <vt:lpstr>What did you learn in this module that most surprised you? [0 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Divyam Kumar</dc:creator>
  <cp:lastModifiedBy>Microsoft Office User</cp:lastModifiedBy>
  <cp:revision>24</cp:revision>
  <dcterms:created xsi:type="dcterms:W3CDTF">2026-01-24T09:19:25Z</dcterms:created>
  <dcterms:modified xsi:type="dcterms:W3CDTF">2026-02-05T06:23:54Z</dcterms:modified>
</cp:coreProperties>
</file>